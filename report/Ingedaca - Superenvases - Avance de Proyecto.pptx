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7" r:id="rId5"/>
    <p:sldId id="268" r:id="rId6"/>
    <p:sldId id="269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586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F0A0B4-6D09-41B2-A491-2FCF0833EBC4}" type="datetimeFigureOut">
              <a:rPr lang="es-419" smtClean="0"/>
              <a:t>23/8/2026</a:t>
            </a:fld>
            <a:endParaRPr lang="es-419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419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B04153-2EF1-44DD-963D-2C5CC6BFA050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100977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EBF565-C405-4BFB-8E99-C611E1D1D10D}" type="slidenum">
              <a:rPr lang="es-419" smtClean="0"/>
              <a:t>4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7849139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D5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055" y="44205"/>
            <a:ext cx="2700050" cy="7589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1005840"/>
            <a:ext cx="11119658" cy="5730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s-419" sz="3200" b="1" i="0" dirty="0">
                <a:solidFill>
                  <a:srgbClr val="2B2B2E"/>
                </a:solidFill>
                <a:latin typeface="Segoe UI"/>
              </a:rPr>
              <a:t>Automatización de reportes y visibilidad operacional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7720" y="6038758"/>
            <a:ext cx="105156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419" sz="1600" b="1" i="0" dirty="0">
                <a:solidFill>
                  <a:srgbClr val="ED5339"/>
                </a:solidFill>
                <a:latin typeface="Segoe UI"/>
              </a:rPr>
              <a:t>Planta </a:t>
            </a:r>
            <a:r>
              <a:rPr lang="es-419" sz="1600" b="1" i="0" dirty="0" err="1">
                <a:solidFill>
                  <a:srgbClr val="ED5339"/>
                </a:solidFill>
                <a:latin typeface="Segoe UI"/>
              </a:rPr>
              <a:t>Superenvases</a:t>
            </a:r>
            <a:endParaRPr lang="es-419" sz="1600" b="1" i="0" dirty="0">
              <a:solidFill>
                <a:srgbClr val="ED5339"/>
              </a:solidFill>
              <a:latin typeface="Segoe UI"/>
            </a:endParaRPr>
          </a:p>
        </p:txBody>
      </p:sp>
      <p:sp>
        <p:nvSpPr>
          <p:cNvPr id="6" name="Oval 5"/>
          <p:cNvSpPr/>
          <p:nvPr/>
        </p:nvSpPr>
        <p:spPr>
          <a:xfrm>
            <a:off x="822960" y="2335414"/>
            <a:ext cx="768096" cy="768096"/>
          </a:xfrm>
          <a:prstGeom prst="ellipse">
            <a:avLst/>
          </a:prstGeom>
          <a:noFill/>
          <a:ln w="31750">
            <a:solidFill>
              <a:srgbClr val="ED53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57377" y="2506317"/>
            <a:ext cx="499262" cy="364845"/>
          </a:xfrm>
          <a:prstGeom prst="roundRect">
            <a:avLst/>
          </a:prstGeom>
          <a:noFill/>
          <a:ln w="25400">
            <a:solidFill>
              <a:srgbClr val="ED53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84115" y="2730983"/>
            <a:ext cx="61447" cy="96012"/>
          </a:xfrm>
          <a:prstGeom prst="rect">
            <a:avLst/>
          </a:prstGeom>
          <a:solidFill>
            <a:srgbClr val="ED5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76285" y="2665695"/>
            <a:ext cx="61447" cy="161300"/>
          </a:xfrm>
          <a:prstGeom prst="rect">
            <a:avLst/>
          </a:prstGeom>
          <a:solidFill>
            <a:srgbClr val="ED5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268455" y="2711781"/>
            <a:ext cx="61447" cy="115214"/>
          </a:xfrm>
          <a:prstGeom prst="rect">
            <a:avLst/>
          </a:prstGeom>
          <a:solidFill>
            <a:srgbClr val="ED5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783080" y="2289694"/>
            <a:ext cx="4069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B2B2E"/>
                </a:solidFill>
                <a:latin typeface="Segoe UI"/>
              </a:rPr>
              <a:t>VISIBILIDAD EN TIEMPO REAL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2719462"/>
            <a:ext cx="40690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87888C"/>
                </a:solidFill>
                <a:latin typeface="Segoe UI"/>
              </a:rPr>
              <a:t>Dashboards por máquina y turno, actualizados cada hora, sin intervención manual.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2289694"/>
            <a:ext cx="40690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dirty="0">
                <a:solidFill>
                  <a:srgbClr val="2B2B2E"/>
                </a:solidFill>
                <a:latin typeface="Segoe UI"/>
              </a:rPr>
              <a:t>AUTOMATIZACIÓN </a:t>
            </a:r>
            <a:r>
              <a:rPr lang="en-US" sz="1500" b="1" i="0" dirty="0">
                <a:solidFill>
                  <a:srgbClr val="2B2B2E"/>
                </a:solidFill>
                <a:latin typeface="Segoe UI"/>
              </a:rPr>
              <a:t>DE REPORTES</a:t>
            </a:r>
            <a:endParaRPr sz="1500" b="1" i="0" dirty="0">
              <a:solidFill>
                <a:srgbClr val="2B2B2E"/>
              </a:solidFill>
              <a:latin typeface="Segoe U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315200" y="2719462"/>
            <a:ext cx="4069080" cy="51578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s-419" sz="1250" b="0" i="0">
                <a:solidFill>
                  <a:srgbClr val="87888C"/>
                </a:solidFill>
                <a:latin typeface="Segoe UI"/>
              </a:rPr>
              <a:t>Cálculo automático de producción, eficiencia y tiempo de parada en FT Data Mosaix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4118494"/>
            <a:ext cx="4069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B2B2E"/>
                </a:solidFill>
                <a:latin typeface="Segoe UI"/>
              </a:rPr>
              <a:t>DATOS CONFIABLES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4548262"/>
            <a:ext cx="4069080" cy="51578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s-419" sz="1250" b="0" i="0">
                <a:solidFill>
                  <a:srgbClr val="87888C"/>
                </a:solidFill>
                <a:latin typeface="Segoe UI"/>
              </a:rPr>
              <a:t>Menos errores</a:t>
            </a:r>
            <a:r>
              <a:rPr lang="es-419" sz="1250">
                <a:solidFill>
                  <a:srgbClr val="87888C"/>
                </a:solidFill>
                <a:latin typeface="Segoe UI"/>
              </a:rPr>
              <a:t> debido a procesamiento de datos manual</a:t>
            </a:r>
            <a:endParaRPr lang="es-419" sz="1250" b="0" i="0">
              <a:solidFill>
                <a:srgbClr val="87888C"/>
              </a:solidFill>
              <a:latin typeface="Segoe UI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6355080" y="4164214"/>
            <a:ext cx="768096" cy="768096"/>
          </a:xfrm>
          <a:prstGeom prst="ellipse">
            <a:avLst/>
          </a:prstGeom>
          <a:noFill/>
          <a:ln w="31750">
            <a:solidFill>
              <a:srgbClr val="ED53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501020" y="4567464"/>
            <a:ext cx="122895" cy="192024"/>
          </a:xfrm>
          <a:prstGeom prst="rect">
            <a:avLst/>
          </a:prstGeom>
          <a:solidFill>
            <a:srgbClr val="ED5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677681" y="4433048"/>
            <a:ext cx="122895" cy="326440"/>
          </a:xfrm>
          <a:prstGeom prst="rect">
            <a:avLst/>
          </a:prstGeom>
          <a:solidFill>
            <a:srgbClr val="ED5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854342" y="4317833"/>
            <a:ext cx="122895" cy="441655"/>
          </a:xfrm>
          <a:prstGeom prst="rect">
            <a:avLst/>
          </a:prstGeom>
          <a:solidFill>
            <a:srgbClr val="ED5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0" y="4118494"/>
            <a:ext cx="4069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B2B2E"/>
                </a:solidFill>
                <a:latin typeface="Segoe UI"/>
              </a:rPr>
              <a:t>TRAZABILIDAD HISTÓRICA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4548262"/>
            <a:ext cx="40690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87888C"/>
                </a:solidFill>
                <a:latin typeface="Segoe UI"/>
              </a:rPr>
              <a:t>Registro auditable de cada hora de operación, por máquina, en un solo lugar.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6885" y="6412798"/>
            <a:ext cx="91440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dirty="0">
                <a:solidFill>
                  <a:srgbClr val="87888C"/>
                </a:solidFill>
                <a:latin typeface="Segoe UI"/>
              </a:rPr>
              <a:t>Valencia, Edo. Carabobo</a:t>
            </a:r>
          </a:p>
        </p:txBody>
      </p:sp>
      <p:sp>
        <p:nvSpPr>
          <p:cNvPr id="31" name="Oval 30"/>
          <p:cNvSpPr/>
          <p:nvPr/>
        </p:nvSpPr>
        <p:spPr>
          <a:xfrm>
            <a:off x="6355080" y="2335414"/>
            <a:ext cx="768096" cy="768096"/>
          </a:xfrm>
          <a:prstGeom prst="ellipse">
            <a:avLst/>
          </a:prstGeom>
          <a:noFill/>
          <a:ln w="31750">
            <a:solidFill>
              <a:srgbClr val="ED53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Folded Corner 31"/>
          <p:cNvSpPr/>
          <p:nvPr/>
        </p:nvSpPr>
        <p:spPr>
          <a:xfrm>
            <a:off x="6547104" y="2479432"/>
            <a:ext cx="384048" cy="480060"/>
          </a:xfrm>
          <a:prstGeom prst="foldedCorner">
            <a:avLst/>
          </a:prstGeom>
          <a:noFill/>
          <a:ln w="25400">
            <a:solidFill>
              <a:srgbClr val="ED53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631594" y="2647453"/>
            <a:ext cx="211226" cy="26883"/>
          </a:xfrm>
          <a:prstGeom prst="rect">
            <a:avLst/>
          </a:prstGeom>
          <a:solidFill>
            <a:srgbClr val="ED5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631594" y="2743465"/>
            <a:ext cx="168980" cy="26883"/>
          </a:xfrm>
          <a:prstGeom prst="rect">
            <a:avLst/>
          </a:prstGeom>
          <a:solidFill>
            <a:srgbClr val="ED5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631594" y="2825075"/>
            <a:ext cx="126735" cy="26883"/>
          </a:xfrm>
          <a:prstGeom prst="rect">
            <a:avLst/>
          </a:prstGeom>
          <a:solidFill>
            <a:srgbClr val="ED5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822960" y="4164214"/>
            <a:ext cx="768096" cy="768096"/>
          </a:xfrm>
          <a:prstGeom prst="ellipse">
            <a:avLst/>
          </a:prstGeom>
          <a:noFill/>
          <a:ln w="31750">
            <a:solidFill>
              <a:srgbClr val="ED53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Freeform 12"/>
          <p:cNvSpPr/>
          <p:nvPr/>
        </p:nvSpPr>
        <p:spPr>
          <a:xfrm>
            <a:off x="973215" y="4379411"/>
            <a:ext cx="467586" cy="337701"/>
          </a:xfrm>
          <a:custGeom>
            <a:avLst/>
            <a:gdLst/>
            <a:ahLst/>
            <a:cxnLst/>
            <a:rect l="l" t="t" r="r" b="b"/>
            <a:pathLst>
              <a:path w="18" h="13">
                <a:moveTo>
                  <a:pt x="6" y="10"/>
                </a:moveTo>
                <a:lnTo>
                  <a:pt x="2" y="6"/>
                </a:lnTo>
                <a:lnTo>
                  <a:pt x="0" y="7"/>
                </a:lnTo>
                <a:lnTo>
                  <a:pt x="6" y="13"/>
                </a:lnTo>
                <a:lnTo>
                  <a:pt x="18" y="1"/>
                </a:lnTo>
                <a:lnTo>
                  <a:pt x="17" y="0"/>
                </a:lnTo>
                <a:close/>
              </a:path>
            </a:pathLst>
          </a:custGeom>
          <a:solidFill>
            <a:srgbClr val="ED5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B904B36-C8E8-4E64-934E-2E7803EDD3A8}"/>
              </a:ext>
            </a:extLst>
          </p:cNvPr>
          <p:cNvSpPr txBox="1"/>
          <p:nvPr/>
        </p:nvSpPr>
        <p:spPr>
          <a:xfrm>
            <a:off x="6285345" y="6527108"/>
            <a:ext cx="548640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lang="es-419" sz="1000" b="0" i="0" dirty="0">
                <a:solidFill>
                  <a:srgbClr val="87888C"/>
                </a:solidFill>
                <a:latin typeface="Segoe UI"/>
              </a:rPr>
              <a:t>Agosto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6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D5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5" name="TextBox 4"/>
          <p:cNvSpPr txBox="1"/>
          <p:nvPr/>
        </p:nvSpPr>
        <p:spPr>
          <a:xfrm>
            <a:off x="502920" y="314462"/>
            <a:ext cx="82296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419" sz="2800" b="1" i="0">
                <a:solidFill>
                  <a:srgbClr val="2B2B2E"/>
                </a:solidFill>
                <a:latin typeface="Segoe UI"/>
              </a:rPr>
              <a:t>Desafíos identificados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6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7" name="TextBox 6"/>
          <p:cNvSpPr txBox="1"/>
          <p:nvPr/>
        </p:nvSpPr>
        <p:spPr>
          <a:xfrm>
            <a:off x="457200" y="6513314"/>
            <a:ext cx="548640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endParaRPr lang="es-419"/>
          </a:p>
        </p:txBody>
      </p:sp>
      <p:sp>
        <p:nvSpPr>
          <p:cNvPr id="8" name="TextBox 7"/>
          <p:cNvSpPr txBox="1"/>
          <p:nvPr/>
        </p:nvSpPr>
        <p:spPr>
          <a:xfrm>
            <a:off x="11094415" y="6574869"/>
            <a:ext cx="64008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lang="es-419" sz="1000" b="0" i="0">
                <a:solidFill>
                  <a:srgbClr val="87888C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325880"/>
            <a:ext cx="1051560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419" sz="1500" b="0" i="1">
                <a:solidFill>
                  <a:srgbClr val="87888C"/>
                </a:solidFill>
                <a:latin typeface="Segoe UI"/>
              </a:rPr>
              <a:t>La situación de partida que dio origen al proyecto: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799" y="1920240"/>
            <a:ext cx="5890491" cy="3734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200"/>
              </a:spcAft>
            </a:pPr>
            <a:r>
              <a:rPr lang="es-419" sz="1700" dirty="0">
                <a:solidFill>
                  <a:srgbClr val="2B2B2E"/>
                </a:solidFill>
                <a:latin typeface="Segoe UI"/>
              </a:rPr>
              <a:t>•  </a:t>
            </a:r>
            <a:r>
              <a:rPr lang="es-419" sz="1700" b="1" dirty="0">
                <a:solidFill>
                  <a:srgbClr val="2B2B2E"/>
                </a:solidFill>
                <a:latin typeface="Segoe UI"/>
              </a:rPr>
              <a:t>Red de comunicación legada (DH+) </a:t>
            </a:r>
            <a:r>
              <a:rPr lang="es-419" sz="1700" dirty="0">
                <a:solidFill>
                  <a:srgbClr val="2B2B2E"/>
                </a:solidFill>
                <a:latin typeface="Segoe UI"/>
              </a:rPr>
              <a:t>con módulos existentes, sin integración con plataformas modernas de visualización.</a:t>
            </a:r>
          </a:p>
          <a:p>
            <a:pPr>
              <a:lnSpc>
                <a:spcPct val="120000"/>
              </a:lnSpc>
              <a:spcAft>
                <a:spcPts val="2200"/>
              </a:spcAft>
            </a:pPr>
            <a:r>
              <a:rPr lang="es-419" sz="1700" dirty="0">
                <a:solidFill>
                  <a:srgbClr val="2B2B2E"/>
                </a:solidFill>
                <a:latin typeface="Segoe UI"/>
              </a:rPr>
              <a:t>•  </a:t>
            </a:r>
            <a:r>
              <a:rPr lang="es-419" sz="1700" b="1" dirty="0">
                <a:solidFill>
                  <a:srgbClr val="2B2B2E"/>
                </a:solidFill>
                <a:latin typeface="Segoe UI"/>
              </a:rPr>
              <a:t>Visibilidad limitada </a:t>
            </a:r>
            <a:r>
              <a:rPr lang="es-419" sz="1700" dirty="0">
                <a:solidFill>
                  <a:srgbClr val="2B2B2E"/>
                </a:solidFill>
                <a:latin typeface="Segoe UI"/>
              </a:rPr>
              <a:t>de producción a nivel de máquina: reportes manuales y dispersos (ej. hoja de cálculo diaria de PRINTER).</a:t>
            </a:r>
          </a:p>
          <a:p>
            <a:pPr>
              <a:lnSpc>
                <a:spcPct val="120000"/>
              </a:lnSpc>
              <a:spcAft>
                <a:spcPts val="2200"/>
              </a:spcAft>
            </a:pPr>
            <a:r>
              <a:rPr lang="es-419" sz="1700" dirty="0">
                <a:solidFill>
                  <a:srgbClr val="2B2B2E"/>
                </a:solidFill>
                <a:latin typeface="Segoe UI"/>
              </a:rPr>
              <a:t>•  </a:t>
            </a:r>
            <a:r>
              <a:rPr lang="es-419" sz="1700" b="1" dirty="0">
                <a:solidFill>
                  <a:srgbClr val="2B2B2E"/>
                </a:solidFill>
                <a:latin typeface="Segoe UI"/>
              </a:rPr>
              <a:t>Sin trazabilidad histórica </a:t>
            </a:r>
            <a:r>
              <a:rPr lang="es-419" sz="1700" dirty="0">
                <a:solidFill>
                  <a:srgbClr val="2B2B2E"/>
                </a:solidFill>
                <a:latin typeface="Segoe UI"/>
              </a:rPr>
              <a:t>de </a:t>
            </a:r>
            <a:r>
              <a:rPr lang="es-419" sz="1700" dirty="0" err="1">
                <a:solidFill>
                  <a:srgbClr val="2B2B2E"/>
                </a:solidFill>
                <a:latin typeface="Segoe UI"/>
              </a:rPr>
              <a:t>KPIs</a:t>
            </a:r>
            <a:r>
              <a:rPr lang="es-419" sz="1700" dirty="0">
                <a:solidFill>
                  <a:srgbClr val="2B2B2E"/>
                </a:solidFill>
                <a:latin typeface="Segoe UI"/>
              </a:rPr>
              <a:t> (eficiencia, tiempo de parada, producción horaria) por tipo de máquina.</a:t>
            </a:r>
          </a:p>
          <a:p>
            <a:pPr>
              <a:lnSpc>
                <a:spcPct val="120000"/>
              </a:lnSpc>
              <a:spcAft>
                <a:spcPts val="2200"/>
              </a:spcAft>
            </a:pPr>
            <a:r>
              <a:rPr lang="es-419" sz="1700" dirty="0">
                <a:solidFill>
                  <a:srgbClr val="2B2B2E"/>
                </a:solidFill>
                <a:latin typeface="Segoe UI"/>
              </a:rPr>
              <a:t>•  </a:t>
            </a:r>
            <a:r>
              <a:rPr lang="es-419" sz="1700" b="1" dirty="0">
                <a:solidFill>
                  <a:srgbClr val="2B2B2E"/>
                </a:solidFill>
                <a:latin typeface="Segoe UI"/>
              </a:rPr>
              <a:t>Dificultad para analizar </a:t>
            </a:r>
            <a:r>
              <a:rPr lang="es-419" sz="1700" dirty="0">
                <a:solidFill>
                  <a:srgbClr val="2B2B2E"/>
                </a:solidFill>
                <a:latin typeface="Segoe UI"/>
              </a:rPr>
              <a:t>los datos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CD649A-33C8-4586-B208-87D6F038D25E}"/>
              </a:ext>
            </a:extLst>
          </p:cNvPr>
          <p:cNvSpPr txBox="1"/>
          <p:nvPr/>
        </p:nvSpPr>
        <p:spPr>
          <a:xfrm>
            <a:off x="457200" y="6574869"/>
            <a:ext cx="548640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419" sz="1000" b="0" i="0" dirty="0">
                <a:solidFill>
                  <a:srgbClr val="87888C"/>
                </a:solidFill>
                <a:latin typeface="Segoe UI"/>
              </a:rPr>
              <a:t>Agosto 2026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43A17C0-57AA-470E-9010-A8587F18CA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8342" y="1441702"/>
            <a:ext cx="3879273" cy="46920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6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D5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5" name="TextBox 4"/>
          <p:cNvSpPr txBox="1"/>
          <p:nvPr/>
        </p:nvSpPr>
        <p:spPr>
          <a:xfrm>
            <a:off x="502920" y="314462"/>
            <a:ext cx="82296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419" sz="2800" b="1" i="0">
                <a:solidFill>
                  <a:srgbClr val="2B2B2E"/>
                </a:solidFill>
                <a:latin typeface="Segoe UI"/>
              </a:rPr>
              <a:t>Solución propuesta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6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8" name="TextBox 7"/>
          <p:cNvSpPr txBox="1"/>
          <p:nvPr/>
        </p:nvSpPr>
        <p:spPr>
          <a:xfrm>
            <a:off x="11094415" y="6574869"/>
            <a:ext cx="64008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lang="es-419" sz="1000" b="0" i="0">
                <a:solidFill>
                  <a:srgbClr val="87888C"/>
                </a:solidFill>
                <a:latin typeface="Segoe U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371600"/>
            <a:ext cx="5593081" cy="4416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2000"/>
              </a:lnSpc>
              <a:spcAft>
                <a:spcPts val="1400"/>
              </a:spcAft>
            </a:pPr>
            <a:r>
              <a:rPr sz="1700" b="1" dirty="0">
                <a:solidFill>
                  <a:srgbClr val="2B2B2E"/>
                </a:solidFill>
                <a:latin typeface="Segoe UI"/>
              </a:rPr>
              <a:t>•  </a:t>
            </a:r>
            <a:r>
              <a:rPr sz="1700" b="1" dirty="0" err="1">
                <a:solidFill>
                  <a:srgbClr val="2B2B2E"/>
                </a:solidFill>
                <a:latin typeface="Segoe UI"/>
              </a:rPr>
              <a:t>Integración</a:t>
            </a:r>
            <a:r>
              <a:rPr sz="1700" b="1" dirty="0">
                <a:solidFill>
                  <a:srgbClr val="2B2B2E"/>
                </a:solidFill>
                <a:latin typeface="Segoe UI"/>
              </a:rPr>
              <a:t> con la red de </a:t>
            </a:r>
            <a:r>
              <a:rPr sz="1700" b="1" dirty="0" err="1">
                <a:solidFill>
                  <a:srgbClr val="2B2B2E"/>
                </a:solidFill>
                <a:latin typeface="Segoe UI"/>
              </a:rPr>
              <a:t>comunicación</a:t>
            </a:r>
            <a:r>
              <a:rPr sz="1700" b="1" dirty="0">
                <a:solidFill>
                  <a:srgbClr val="2B2B2E"/>
                </a:solidFill>
                <a:latin typeface="Segoe UI"/>
              </a:rPr>
              <a:t> </a:t>
            </a:r>
            <a:r>
              <a:rPr sz="1700" b="1" dirty="0" err="1">
                <a:solidFill>
                  <a:srgbClr val="2B2B2E"/>
                </a:solidFill>
                <a:latin typeface="Segoe UI"/>
              </a:rPr>
              <a:t>existente</a:t>
            </a:r>
            <a:r>
              <a:rPr sz="1700" b="1" dirty="0">
                <a:solidFill>
                  <a:srgbClr val="2B2B2E"/>
                </a:solidFill>
                <a:latin typeface="Segoe UI"/>
              </a:rPr>
              <a:t> (DH+)  –  </a:t>
            </a:r>
            <a:r>
              <a:rPr sz="1700" b="0" dirty="0">
                <a:solidFill>
                  <a:srgbClr val="87888C"/>
                </a:solidFill>
                <a:latin typeface="Segoe UI"/>
              </a:rPr>
              <a:t>Software PLC </a:t>
            </a:r>
            <a:r>
              <a:rPr sz="1700" b="0" dirty="0" err="1">
                <a:solidFill>
                  <a:srgbClr val="87888C"/>
                </a:solidFill>
                <a:latin typeface="Segoe UI"/>
              </a:rPr>
              <a:t>desarrollado</a:t>
            </a:r>
            <a:r>
              <a:rPr sz="1700" b="0" dirty="0">
                <a:solidFill>
                  <a:srgbClr val="87888C"/>
                </a:solidFill>
                <a:latin typeface="Segoe UI"/>
              </a:rPr>
              <a:t> a la </a:t>
            </a:r>
            <a:r>
              <a:rPr sz="1700" b="0" dirty="0" err="1">
                <a:solidFill>
                  <a:srgbClr val="87888C"/>
                </a:solidFill>
                <a:latin typeface="Segoe UI"/>
              </a:rPr>
              <a:t>medida</a:t>
            </a:r>
            <a:r>
              <a:rPr sz="1700" b="0" dirty="0">
                <a:solidFill>
                  <a:srgbClr val="87888C"/>
                </a:solidFill>
                <a:latin typeface="Segoe UI"/>
              </a:rPr>
              <a:t> para </a:t>
            </a:r>
            <a:r>
              <a:rPr sz="1700" b="0" dirty="0" err="1">
                <a:solidFill>
                  <a:srgbClr val="87888C"/>
                </a:solidFill>
                <a:latin typeface="Segoe UI"/>
              </a:rPr>
              <a:t>comunicarse</a:t>
            </a:r>
            <a:r>
              <a:rPr sz="1700" b="0" dirty="0">
                <a:solidFill>
                  <a:srgbClr val="87888C"/>
                </a:solidFill>
                <a:latin typeface="Segoe UI"/>
              </a:rPr>
              <a:t> con los </a:t>
            </a:r>
            <a:r>
              <a:rPr sz="1700" b="0" dirty="0" err="1">
                <a:solidFill>
                  <a:srgbClr val="87888C"/>
                </a:solidFill>
                <a:latin typeface="Segoe UI"/>
              </a:rPr>
              <a:t>módulos</a:t>
            </a:r>
            <a:r>
              <a:rPr sz="1700" b="0" dirty="0">
                <a:solidFill>
                  <a:srgbClr val="87888C"/>
                </a:solidFill>
                <a:latin typeface="Segoe UI"/>
              </a:rPr>
              <a:t> DH+ </a:t>
            </a:r>
            <a:r>
              <a:rPr sz="1700" b="0" dirty="0" err="1">
                <a:solidFill>
                  <a:srgbClr val="87888C"/>
                </a:solidFill>
                <a:latin typeface="Segoe UI"/>
              </a:rPr>
              <a:t>actuales</a:t>
            </a:r>
            <a:r>
              <a:rPr sz="1700" b="0" dirty="0">
                <a:solidFill>
                  <a:srgbClr val="87888C"/>
                </a:solidFill>
                <a:latin typeface="Segoe UI"/>
              </a:rPr>
              <a:t>, sin </a:t>
            </a:r>
            <a:r>
              <a:rPr sz="1700" b="0" dirty="0" err="1">
                <a:solidFill>
                  <a:srgbClr val="87888C"/>
                </a:solidFill>
                <a:latin typeface="Segoe UI"/>
              </a:rPr>
              <a:t>reemplazar</a:t>
            </a:r>
            <a:r>
              <a:rPr sz="1700" b="0" dirty="0">
                <a:solidFill>
                  <a:srgbClr val="87888C"/>
                </a:solidFill>
                <a:latin typeface="Segoe UI"/>
              </a:rPr>
              <a:t> la </a:t>
            </a:r>
            <a:r>
              <a:rPr sz="1700" b="0" dirty="0" err="1">
                <a:solidFill>
                  <a:srgbClr val="87888C"/>
                </a:solidFill>
                <a:latin typeface="Segoe UI"/>
              </a:rPr>
              <a:t>infraestructura</a:t>
            </a:r>
            <a:r>
              <a:rPr sz="1700" b="0" dirty="0">
                <a:solidFill>
                  <a:srgbClr val="87888C"/>
                </a:solidFill>
                <a:latin typeface="Segoe UI"/>
              </a:rPr>
              <a:t> de campo.</a:t>
            </a:r>
          </a:p>
          <a:p>
            <a:pPr algn="just">
              <a:lnSpc>
                <a:spcPct val="112000"/>
              </a:lnSpc>
              <a:spcAft>
                <a:spcPts val="1400"/>
              </a:spcAft>
            </a:pPr>
            <a:r>
              <a:rPr sz="1700" b="1" dirty="0">
                <a:solidFill>
                  <a:srgbClr val="2B2B2E"/>
                </a:solidFill>
                <a:latin typeface="Segoe UI"/>
              </a:rPr>
              <a:t>•  Plataforma de </a:t>
            </a:r>
            <a:r>
              <a:rPr sz="1700" b="1" dirty="0" err="1">
                <a:solidFill>
                  <a:srgbClr val="2B2B2E"/>
                </a:solidFill>
                <a:latin typeface="Segoe UI"/>
              </a:rPr>
              <a:t>visualización</a:t>
            </a:r>
            <a:r>
              <a:rPr sz="1700" b="1" dirty="0">
                <a:solidFill>
                  <a:srgbClr val="2B2B2E"/>
                </a:solidFill>
                <a:latin typeface="Segoe UI"/>
              </a:rPr>
              <a:t> FactoryTalk </a:t>
            </a:r>
            <a:r>
              <a:rPr sz="1700" b="1" dirty="0" err="1">
                <a:solidFill>
                  <a:srgbClr val="2B2B2E"/>
                </a:solidFill>
                <a:latin typeface="Segoe UI"/>
              </a:rPr>
              <a:t>Optix</a:t>
            </a:r>
            <a:r>
              <a:rPr sz="1700" b="1" dirty="0">
                <a:solidFill>
                  <a:srgbClr val="2B2B2E"/>
                </a:solidFill>
                <a:latin typeface="Segoe UI"/>
              </a:rPr>
              <a:t>  –  </a:t>
            </a:r>
            <a:r>
              <a:rPr sz="1700" b="0" dirty="0" err="1">
                <a:solidFill>
                  <a:srgbClr val="87888C"/>
                </a:solidFill>
                <a:latin typeface="Segoe UI"/>
              </a:rPr>
              <a:t>Pantalla</a:t>
            </a:r>
            <a:r>
              <a:rPr lang="en-US" sz="1700" b="0" dirty="0">
                <a:solidFill>
                  <a:srgbClr val="87888C"/>
                </a:solidFill>
                <a:latin typeface="Segoe UI"/>
              </a:rPr>
              <a:t> local</a:t>
            </a:r>
            <a:r>
              <a:rPr sz="1700" b="0" dirty="0">
                <a:solidFill>
                  <a:srgbClr val="87888C"/>
                </a:solidFill>
                <a:latin typeface="Segoe UI"/>
              </a:rPr>
              <a:t> para </a:t>
            </a:r>
            <a:r>
              <a:rPr sz="1700" b="0" dirty="0" err="1">
                <a:solidFill>
                  <a:srgbClr val="87888C"/>
                </a:solidFill>
                <a:latin typeface="Segoe UI"/>
              </a:rPr>
              <a:t>monitoreo</a:t>
            </a:r>
            <a:r>
              <a:rPr sz="1700" b="0" dirty="0">
                <a:solidFill>
                  <a:srgbClr val="87888C"/>
                </a:solidFill>
                <a:latin typeface="Segoe UI"/>
              </a:rPr>
              <a:t> de </a:t>
            </a:r>
            <a:r>
              <a:rPr sz="1700" b="0" dirty="0" err="1">
                <a:solidFill>
                  <a:srgbClr val="87888C"/>
                </a:solidFill>
                <a:latin typeface="Segoe UI"/>
              </a:rPr>
              <a:t>contadores</a:t>
            </a:r>
            <a:r>
              <a:rPr sz="1700" b="0" dirty="0">
                <a:solidFill>
                  <a:srgbClr val="87888C"/>
                </a:solidFill>
                <a:latin typeface="Segoe UI"/>
              </a:rPr>
              <a:t> y variables de </a:t>
            </a:r>
            <a:r>
              <a:rPr sz="1700" b="0" dirty="0" err="1">
                <a:solidFill>
                  <a:srgbClr val="87888C"/>
                </a:solidFill>
                <a:latin typeface="Segoe UI"/>
              </a:rPr>
              <a:t>proceso</a:t>
            </a:r>
            <a:r>
              <a:rPr sz="1700" b="0" dirty="0">
                <a:solidFill>
                  <a:srgbClr val="87888C"/>
                </a:solidFill>
                <a:latin typeface="Segoe UI"/>
              </a:rPr>
              <a:t> </a:t>
            </a:r>
            <a:r>
              <a:rPr sz="1700" b="0" dirty="0" err="1">
                <a:solidFill>
                  <a:srgbClr val="87888C"/>
                </a:solidFill>
                <a:latin typeface="Segoe UI"/>
              </a:rPr>
              <a:t>en</a:t>
            </a:r>
            <a:r>
              <a:rPr sz="1700" b="0" dirty="0">
                <a:solidFill>
                  <a:srgbClr val="87888C"/>
                </a:solidFill>
                <a:latin typeface="Segoe UI"/>
              </a:rPr>
              <a:t> </a:t>
            </a:r>
            <a:r>
              <a:rPr sz="1700" b="0" dirty="0" err="1">
                <a:solidFill>
                  <a:srgbClr val="87888C"/>
                </a:solidFill>
                <a:latin typeface="Segoe UI"/>
              </a:rPr>
              <a:t>tiempo</a:t>
            </a:r>
            <a:r>
              <a:rPr sz="1700" b="0" dirty="0">
                <a:solidFill>
                  <a:srgbClr val="87888C"/>
                </a:solidFill>
                <a:latin typeface="Segoe UI"/>
              </a:rPr>
              <a:t> real, </a:t>
            </a:r>
            <a:r>
              <a:rPr sz="1700" b="0" dirty="0" err="1">
                <a:solidFill>
                  <a:srgbClr val="87888C"/>
                </a:solidFill>
                <a:latin typeface="Segoe UI"/>
              </a:rPr>
              <a:t>accesibles</a:t>
            </a:r>
            <a:r>
              <a:rPr sz="1700" b="0" dirty="0">
                <a:solidFill>
                  <a:srgbClr val="87888C"/>
                </a:solidFill>
                <a:latin typeface="Segoe UI"/>
              </a:rPr>
              <a:t> </a:t>
            </a:r>
            <a:r>
              <a:rPr sz="1700" b="0" dirty="0" err="1">
                <a:solidFill>
                  <a:srgbClr val="87888C"/>
                </a:solidFill>
                <a:latin typeface="Segoe UI"/>
              </a:rPr>
              <a:t>desde</a:t>
            </a:r>
            <a:r>
              <a:rPr sz="1700" b="0" dirty="0">
                <a:solidFill>
                  <a:srgbClr val="87888C"/>
                </a:solidFill>
                <a:latin typeface="Segoe UI"/>
              </a:rPr>
              <a:t> planta.</a:t>
            </a:r>
          </a:p>
          <a:p>
            <a:pPr algn="just">
              <a:lnSpc>
                <a:spcPct val="112000"/>
              </a:lnSpc>
              <a:spcAft>
                <a:spcPts val="1400"/>
              </a:spcAft>
            </a:pPr>
            <a:r>
              <a:rPr sz="1700" b="1" dirty="0">
                <a:solidFill>
                  <a:srgbClr val="2B2B2E"/>
                </a:solidFill>
                <a:latin typeface="Segoe UI"/>
              </a:rPr>
              <a:t>•  </a:t>
            </a:r>
            <a:r>
              <a:rPr sz="1700" b="1" dirty="0" err="1">
                <a:solidFill>
                  <a:srgbClr val="2B2B2E"/>
                </a:solidFill>
                <a:latin typeface="Segoe UI"/>
              </a:rPr>
              <a:t>Integración</a:t>
            </a:r>
            <a:r>
              <a:rPr sz="1700" b="1" dirty="0">
                <a:solidFill>
                  <a:srgbClr val="2B2B2E"/>
                </a:solidFill>
                <a:latin typeface="Segoe UI"/>
              </a:rPr>
              <a:t> OT/IT </a:t>
            </a:r>
            <a:r>
              <a:rPr sz="1700" b="1" dirty="0" err="1">
                <a:solidFill>
                  <a:srgbClr val="2B2B2E"/>
                </a:solidFill>
                <a:latin typeface="Segoe UI"/>
              </a:rPr>
              <a:t>cibersegura</a:t>
            </a:r>
            <a:r>
              <a:rPr sz="1700" b="1" dirty="0">
                <a:solidFill>
                  <a:srgbClr val="2B2B2E"/>
                </a:solidFill>
                <a:latin typeface="Segoe UI"/>
              </a:rPr>
              <a:t> a </a:t>
            </a:r>
            <a:r>
              <a:rPr sz="1700" b="1" dirty="0" err="1">
                <a:solidFill>
                  <a:srgbClr val="2B2B2E"/>
                </a:solidFill>
                <a:latin typeface="Segoe UI"/>
              </a:rPr>
              <a:t>través</a:t>
            </a:r>
            <a:r>
              <a:rPr sz="1700" b="1" dirty="0">
                <a:solidFill>
                  <a:srgbClr val="2B2B2E"/>
                </a:solidFill>
                <a:latin typeface="Segoe UI"/>
              </a:rPr>
              <a:t> de la red de </a:t>
            </a:r>
            <a:r>
              <a:rPr sz="1700" b="1" dirty="0" err="1">
                <a:solidFill>
                  <a:srgbClr val="2B2B2E"/>
                </a:solidFill>
                <a:latin typeface="Segoe UI"/>
              </a:rPr>
              <a:t>comunicaciones</a:t>
            </a:r>
            <a:r>
              <a:rPr sz="1700" b="1" dirty="0">
                <a:solidFill>
                  <a:srgbClr val="2B2B2E"/>
                </a:solidFill>
                <a:latin typeface="Segoe UI"/>
              </a:rPr>
              <a:t> </a:t>
            </a:r>
            <a:r>
              <a:rPr lang="en-US" sz="1700" b="1" dirty="0">
                <a:solidFill>
                  <a:srgbClr val="2B2B2E"/>
                </a:solidFill>
                <a:latin typeface="Segoe UI"/>
              </a:rPr>
              <a:t>planta</a:t>
            </a:r>
            <a:r>
              <a:rPr sz="1700" b="1" dirty="0">
                <a:solidFill>
                  <a:srgbClr val="2B2B2E"/>
                </a:solidFill>
                <a:latin typeface="Segoe UI"/>
              </a:rPr>
              <a:t>  –  </a:t>
            </a:r>
            <a:r>
              <a:rPr sz="1700" b="0" dirty="0" err="1">
                <a:solidFill>
                  <a:srgbClr val="87888C"/>
                </a:solidFill>
                <a:latin typeface="Segoe UI"/>
              </a:rPr>
              <a:t>Conexión</a:t>
            </a:r>
            <a:r>
              <a:rPr sz="1700" b="0" dirty="0">
                <a:solidFill>
                  <a:srgbClr val="87888C"/>
                </a:solidFill>
                <a:latin typeface="Segoe UI"/>
              </a:rPr>
              <a:t> </a:t>
            </a:r>
            <a:r>
              <a:rPr sz="1700" b="0" dirty="0" err="1">
                <a:solidFill>
                  <a:srgbClr val="87888C"/>
                </a:solidFill>
                <a:latin typeface="Segoe UI"/>
              </a:rPr>
              <a:t>segura</a:t>
            </a:r>
            <a:r>
              <a:rPr sz="1700" b="0" dirty="0">
                <a:solidFill>
                  <a:srgbClr val="87888C"/>
                </a:solidFill>
                <a:latin typeface="Segoe UI"/>
              </a:rPr>
              <a:t> entre los </a:t>
            </a:r>
            <a:r>
              <a:rPr sz="1700" b="0" dirty="0" err="1">
                <a:solidFill>
                  <a:srgbClr val="87888C"/>
                </a:solidFill>
                <a:latin typeface="Segoe UI"/>
              </a:rPr>
              <a:t>sistemas</a:t>
            </a:r>
            <a:r>
              <a:rPr sz="1700" b="0" dirty="0">
                <a:solidFill>
                  <a:srgbClr val="87888C"/>
                </a:solidFill>
                <a:latin typeface="Segoe UI"/>
              </a:rPr>
              <a:t> de planta (OT) y las </a:t>
            </a:r>
            <a:r>
              <a:rPr sz="1700" b="0" dirty="0" err="1">
                <a:solidFill>
                  <a:srgbClr val="87888C"/>
                </a:solidFill>
                <a:latin typeface="Segoe UI"/>
              </a:rPr>
              <a:t>plataformas</a:t>
            </a:r>
            <a:r>
              <a:rPr sz="1700" b="0" dirty="0">
                <a:solidFill>
                  <a:srgbClr val="87888C"/>
                </a:solidFill>
                <a:latin typeface="Segoe UI"/>
              </a:rPr>
              <a:t> de </a:t>
            </a:r>
            <a:r>
              <a:rPr sz="1700" b="0" dirty="0" err="1">
                <a:solidFill>
                  <a:srgbClr val="87888C"/>
                </a:solidFill>
                <a:latin typeface="Segoe UI"/>
              </a:rPr>
              <a:t>información</a:t>
            </a:r>
            <a:r>
              <a:rPr sz="1700" b="0" dirty="0">
                <a:solidFill>
                  <a:srgbClr val="87888C"/>
                </a:solidFill>
                <a:latin typeface="Segoe UI"/>
              </a:rPr>
              <a:t> (IT), </a:t>
            </a:r>
            <a:r>
              <a:rPr sz="1700" b="0" dirty="0" err="1">
                <a:solidFill>
                  <a:srgbClr val="87888C"/>
                </a:solidFill>
                <a:latin typeface="Segoe UI"/>
              </a:rPr>
              <a:t>aprovechando</a:t>
            </a:r>
            <a:r>
              <a:rPr sz="1700" b="0" dirty="0">
                <a:solidFill>
                  <a:srgbClr val="87888C"/>
                </a:solidFill>
                <a:latin typeface="Segoe UI"/>
              </a:rPr>
              <a:t> la red de </a:t>
            </a:r>
            <a:r>
              <a:rPr sz="1700" b="0" dirty="0" err="1">
                <a:solidFill>
                  <a:srgbClr val="87888C"/>
                </a:solidFill>
                <a:latin typeface="Segoe UI"/>
              </a:rPr>
              <a:t>comunicaciones</a:t>
            </a:r>
            <a:r>
              <a:rPr sz="1700" b="0" dirty="0">
                <a:solidFill>
                  <a:srgbClr val="87888C"/>
                </a:solidFill>
                <a:latin typeface="Segoe UI"/>
              </a:rPr>
              <a:t> </a:t>
            </a:r>
            <a:r>
              <a:rPr sz="1700" b="0" dirty="0" err="1">
                <a:solidFill>
                  <a:srgbClr val="87888C"/>
                </a:solidFill>
                <a:latin typeface="Segoe UI"/>
              </a:rPr>
              <a:t>ya</a:t>
            </a:r>
            <a:r>
              <a:rPr sz="1700" b="0" dirty="0">
                <a:solidFill>
                  <a:srgbClr val="87888C"/>
                </a:solidFill>
                <a:latin typeface="Segoe UI"/>
              </a:rPr>
              <a:t> </a:t>
            </a:r>
            <a:r>
              <a:rPr sz="1700" b="0" dirty="0" err="1">
                <a:solidFill>
                  <a:srgbClr val="87888C"/>
                </a:solidFill>
                <a:latin typeface="Segoe UI"/>
              </a:rPr>
              <a:t>existente</a:t>
            </a:r>
            <a:r>
              <a:rPr sz="1700" b="0" dirty="0">
                <a:solidFill>
                  <a:srgbClr val="87888C"/>
                </a:solidFill>
                <a:latin typeface="Segoe UI"/>
              </a:rPr>
              <a:t> de </a:t>
            </a:r>
            <a:r>
              <a:rPr sz="1700" b="0" dirty="0" err="1">
                <a:solidFill>
                  <a:srgbClr val="87888C"/>
                </a:solidFill>
                <a:latin typeface="Segoe UI"/>
              </a:rPr>
              <a:t>Empresas</a:t>
            </a:r>
            <a:r>
              <a:rPr sz="1700" b="0" dirty="0">
                <a:solidFill>
                  <a:srgbClr val="87888C"/>
                </a:solidFill>
                <a:latin typeface="Segoe UI"/>
              </a:rPr>
              <a:t> Polar.</a:t>
            </a:r>
          </a:p>
          <a:p>
            <a:pPr algn="just">
              <a:lnSpc>
                <a:spcPct val="112000"/>
              </a:lnSpc>
              <a:spcAft>
                <a:spcPts val="1400"/>
              </a:spcAft>
            </a:pPr>
            <a:endParaRPr sz="1700" b="0" dirty="0">
              <a:solidFill>
                <a:srgbClr val="87888C"/>
              </a:solidFill>
              <a:latin typeface="Segoe U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D61D24-F197-44AB-9369-BF4773B04CA1}"/>
              </a:ext>
            </a:extLst>
          </p:cNvPr>
          <p:cNvSpPr txBox="1"/>
          <p:nvPr/>
        </p:nvSpPr>
        <p:spPr>
          <a:xfrm>
            <a:off x="457200" y="6574869"/>
            <a:ext cx="548640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419" sz="1000" b="0" i="0" dirty="0">
                <a:solidFill>
                  <a:srgbClr val="87888C"/>
                </a:solidFill>
                <a:latin typeface="Segoe UI"/>
              </a:rPr>
              <a:t>Agosto 2026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72C078E-5DBA-4614-BEA9-F45B3C716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7302" y="1297710"/>
            <a:ext cx="4791158" cy="361915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4462640-375A-4557-8037-E990BAAD33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1455" y="5260478"/>
            <a:ext cx="2854305" cy="944144"/>
          </a:xfrm>
          <a:prstGeom prst="rect">
            <a:avLst/>
          </a:prstGeom>
        </p:spPr>
      </p:pic>
      <p:pic>
        <p:nvPicPr>
          <p:cNvPr id="18" name="Picture 2" descr="Introducing FactoryTalk Optix: The ...">
            <a:extLst>
              <a:ext uri="{FF2B5EF4-FFF2-40B4-BE49-F238E27FC236}">
                <a16:creationId xmlns:a16="http://schemas.microsoft.com/office/drawing/2014/main" id="{68857F8E-816D-49E7-97C2-04FD1E1537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4415" y="5642984"/>
            <a:ext cx="1294045" cy="561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6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D5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5" name="TextBox 4"/>
          <p:cNvSpPr txBox="1"/>
          <p:nvPr/>
        </p:nvSpPr>
        <p:spPr>
          <a:xfrm>
            <a:off x="502920" y="314462"/>
            <a:ext cx="82296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419" sz="2800" b="1" i="0" dirty="0">
                <a:solidFill>
                  <a:srgbClr val="2B2B2E"/>
                </a:solidFill>
                <a:latin typeface="Segoe UI"/>
              </a:rPr>
              <a:t>Levantamiento y desarrollo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6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7" name="TextBox 6"/>
          <p:cNvSpPr txBox="1"/>
          <p:nvPr/>
        </p:nvSpPr>
        <p:spPr>
          <a:xfrm>
            <a:off x="457200" y="6497925"/>
            <a:ext cx="548640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11094415" y="6571022"/>
            <a:ext cx="640080" cy="253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lang="es-419" sz="1050" b="0" i="0">
                <a:solidFill>
                  <a:srgbClr val="87888C"/>
                </a:solidFill>
                <a:latin typeface="Segoe U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563" y="1316183"/>
            <a:ext cx="5120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 err="1">
                <a:solidFill>
                  <a:srgbClr val="2B2B2E"/>
                </a:solidFill>
                <a:latin typeface="Segoe UI"/>
              </a:rPr>
              <a:t>Fase</a:t>
            </a:r>
            <a:r>
              <a:rPr b="1" dirty="0">
                <a:solidFill>
                  <a:srgbClr val="2B2B2E"/>
                </a:solidFill>
                <a:latin typeface="Segoe UI"/>
              </a:rPr>
              <a:t> 1 - </a:t>
            </a:r>
            <a:r>
              <a:rPr b="1" dirty="0" err="1">
                <a:solidFill>
                  <a:srgbClr val="2B2B2E"/>
                </a:solidFill>
                <a:latin typeface="Segoe UI"/>
              </a:rPr>
              <a:t>Levantamiento</a:t>
            </a:r>
            <a:r>
              <a:rPr sz="1200" b="0" i="1" dirty="0">
                <a:solidFill>
                  <a:srgbClr val="87888C"/>
                </a:solidFill>
                <a:latin typeface="Segoe UI"/>
              </a:rPr>
              <a:t>   Agosto 202</a:t>
            </a:r>
            <a:r>
              <a:rPr lang="en-US" sz="1200" b="0" i="1" dirty="0">
                <a:solidFill>
                  <a:srgbClr val="87888C"/>
                </a:solidFill>
                <a:latin typeface="Segoe UI"/>
              </a:rPr>
              <a:t>5</a:t>
            </a:r>
            <a:endParaRPr sz="1200" b="0" i="1" dirty="0">
              <a:solidFill>
                <a:srgbClr val="87888C"/>
              </a:solidFill>
              <a:latin typeface="Segoe U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76563" y="1773383"/>
            <a:ext cx="5120640" cy="2628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dirty="0">
                <a:solidFill>
                  <a:srgbClr val="2B2B2E"/>
                </a:solidFill>
                <a:latin typeface="Segoe UI"/>
              </a:rPr>
              <a:t>•  </a:t>
            </a:r>
            <a:r>
              <a:rPr sz="1400" dirty="0" err="1">
                <a:solidFill>
                  <a:srgbClr val="2B2B2E"/>
                </a:solidFill>
                <a:latin typeface="Segoe UI"/>
              </a:rPr>
              <a:t>Levantamiento</a:t>
            </a:r>
            <a:r>
              <a:rPr sz="1400" dirty="0">
                <a:solidFill>
                  <a:srgbClr val="2B2B2E"/>
                </a:solidFill>
                <a:latin typeface="Segoe UI"/>
              </a:rPr>
              <a:t> del </a:t>
            </a:r>
            <a:r>
              <a:rPr sz="1400" dirty="0" err="1">
                <a:solidFill>
                  <a:srgbClr val="2B2B2E"/>
                </a:solidFill>
                <a:latin typeface="Segoe UI"/>
              </a:rPr>
              <a:t>listado</a:t>
            </a:r>
            <a:r>
              <a:rPr sz="1400" dirty="0">
                <a:solidFill>
                  <a:srgbClr val="2B2B2E"/>
                </a:solidFill>
                <a:latin typeface="Segoe UI"/>
              </a:rPr>
              <a:t> de </a:t>
            </a:r>
            <a:r>
              <a:rPr sz="1400" dirty="0" err="1">
                <a:solidFill>
                  <a:srgbClr val="2B2B2E"/>
                </a:solidFill>
                <a:latin typeface="Segoe UI"/>
              </a:rPr>
              <a:t>señales</a:t>
            </a:r>
            <a:r>
              <a:rPr sz="1400" dirty="0">
                <a:solidFill>
                  <a:srgbClr val="2B2B2E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2B2B2E"/>
                </a:solidFill>
                <a:latin typeface="Segoe UI"/>
              </a:rPr>
              <a:t>actuales</a:t>
            </a:r>
            <a:r>
              <a:rPr sz="1400" dirty="0">
                <a:solidFill>
                  <a:srgbClr val="2B2B2E"/>
                </a:solidFill>
                <a:latin typeface="Segoe UI"/>
              </a:rPr>
              <a:t> de la red DH+.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dirty="0">
                <a:solidFill>
                  <a:srgbClr val="2B2B2E"/>
                </a:solidFill>
                <a:latin typeface="Segoe UI"/>
              </a:rPr>
              <a:t>•  </a:t>
            </a:r>
            <a:r>
              <a:rPr sz="1400" dirty="0" err="1">
                <a:solidFill>
                  <a:srgbClr val="2B2B2E"/>
                </a:solidFill>
                <a:latin typeface="Segoe UI"/>
              </a:rPr>
              <a:t>Evaluación</a:t>
            </a:r>
            <a:r>
              <a:rPr sz="1400" dirty="0">
                <a:solidFill>
                  <a:srgbClr val="2B2B2E"/>
                </a:solidFill>
                <a:latin typeface="Segoe UI"/>
              </a:rPr>
              <a:t> del </a:t>
            </a:r>
            <a:r>
              <a:rPr sz="1400" dirty="0" err="1">
                <a:solidFill>
                  <a:srgbClr val="2B2B2E"/>
                </a:solidFill>
                <a:latin typeface="Segoe UI"/>
              </a:rPr>
              <a:t>estado</a:t>
            </a:r>
            <a:r>
              <a:rPr sz="1400" dirty="0">
                <a:solidFill>
                  <a:srgbClr val="2B2B2E"/>
                </a:solidFill>
                <a:latin typeface="Segoe UI"/>
              </a:rPr>
              <a:t> de la red: </a:t>
            </a:r>
            <a:r>
              <a:rPr sz="1400" dirty="0" err="1">
                <a:solidFill>
                  <a:srgbClr val="2B2B2E"/>
                </a:solidFill>
                <a:latin typeface="Segoe UI"/>
              </a:rPr>
              <a:t>conexión</a:t>
            </a:r>
            <a:r>
              <a:rPr sz="1400" dirty="0">
                <a:solidFill>
                  <a:srgbClr val="2B2B2E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2B2B2E"/>
                </a:solidFill>
                <a:latin typeface="Segoe UI"/>
              </a:rPr>
              <a:t>física</a:t>
            </a:r>
            <a:r>
              <a:rPr sz="1400" dirty="0">
                <a:solidFill>
                  <a:srgbClr val="2B2B2E"/>
                </a:solidFill>
                <a:latin typeface="Segoe UI"/>
              </a:rPr>
              <a:t>, </a:t>
            </a:r>
            <a:r>
              <a:rPr sz="1400" dirty="0" err="1">
                <a:solidFill>
                  <a:srgbClr val="2B2B2E"/>
                </a:solidFill>
                <a:latin typeface="Segoe UI"/>
              </a:rPr>
              <a:t>configuración</a:t>
            </a:r>
            <a:r>
              <a:rPr sz="1400" dirty="0">
                <a:solidFill>
                  <a:srgbClr val="2B2B2E"/>
                </a:solidFill>
                <a:latin typeface="Segoe UI"/>
              </a:rPr>
              <a:t> TCP/IP, </a:t>
            </a:r>
            <a:r>
              <a:rPr sz="1400" dirty="0" err="1">
                <a:solidFill>
                  <a:srgbClr val="2B2B2E"/>
                </a:solidFill>
                <a:latin typeface="Segoe UI"/>
              </a:rPr>
              <a:t>verificación</a:t>
            </a:r>
            <a:r>
              <a:rPr sz="1400" dirty="0">
                <a:solidFill>
                  <a:srgbClr val="2B2B2E"/>
                </a:solidFill>
                <a:latin typeface="Segoe UI"/>
              </a:rPr>
              <a:t> de </a:t>
            </a:r>
            <a:r>
              <a:rPr sz="1400" dirty="0" err="1">
                <a:solidFill>
                  <a:srgbClr val="2B2B2E"/>
                </a:solidFill>
                <a:latin typeface="Segoe UI"/>
              </a:rPr>
              <a:t>conectividad</a:t>
            </a:r>
            <a:r>
              <a:rPr sz="1400" dirty="0">
                <a:solidFill>
                  <a:srgbClr val="2B2B2E"/>
                </a:solidFill>
                <a:latin typeface="Segoe UI"/>
              </a:rPr>
              <a:t> y </a:t>
            </a:r>
            <a:r>
              <a:rPr sz="1400" dirty="0" err="1">
                <a:solidFill>
                  <a:srgbClr val="2B2B2E"/>
                </a:solidFill>
                <a:latin typeface="Segoe UI"/>
              </a:rPr>
              <a:t>diagnóstico</a:t>
            </a:r>
            <a:r>
              <a:rPr sz="1400" dirty="0">
                <a:solidFill>
                  <a:srgbClr val="2B2B2E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2B2B2E"/>
                </a:solidFill>
                <a:latin typeface="Segoe UI"/>
              </a:rPr>
              <a:t>vía</a:t>
            </a:r>
            <a:r>
              <a:rPr sz="1400" dirty="0">
                <a:solidFill>
                  <a:srgbClr val="2B2B2E"/>
                </a:solidFill>
                <a:latin typeface="Segoe UI"/>
              </a:rPr>
              <a:t> RS </a:t>
            </a:r>
            <a:r>
              <a:rPr sz="1400" dirty="0" err="1">
                <a:solidFill>
                  <a:srgbClr val="2B2B2E"/>
                </a:solidFill>
                <a:latin typeface="Segoe UI"/>
              </a:rPr>
              <a:t>Linx</a:t>
            </a:r>
            <a:r>
              <a:rPr sz="1400" dirty="0">
                <a:solidFill>
                  <a:srgbClr val="2B2B2E"/>
                </a:solidFill>
                <a:latin typeface="Segoe UI"/>
              </a:rPr>
              <a:t>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dirty="0">
                <a:solidFill>
                  <a:srgbClr val="2B2B2E"/>
                </a:solidFill>
                <a:latin typeface="Segoe UI"/>
              </a:rPr>
              <a:t>•  </a:t>
            </a:r>
            <a:r>
              <a:rPr sz="1400" dirty="0" err="1">
                <a:solidFill>
                  <a:srgbClr val="2B2B2E"/>
                </a:solidFill>
                <a:latin typeface="Segoe UI"/>
              </a:rPr>
              <a:t>Identificación</a:t>
            </a:r>
            <a:r>
              <a:rPr sz="1400" dirty="0">
                <a:solidFill>
                  <a:srgbClr val="2B2B2E"/>
                </a:solidFill>
                <a:latin typeface="Segoe UI"/>
              </a:rPr>
              <a:t> de los </a:t>
            </a:r>
            <a:r>
              <a:rPr sz="1400" dirty="0" err="1">
                <a:solidFill>
                  <a:srgbClr val="2B2B2E"/>
                </a:solidFill>
                <a:latin typeface="Segoe UI"/>
              </a:rPr>
              <a:t>módulos</a:t>
            </a:r>
            <a:r>
              <a:rPr sz="1400" dirty="0">
                <a:solidFill>
                  <a:srgbClr val="2B2B2E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2B2B2E"/>
                </a:solidFill>
                <a:latin typeface="Segoe UI"/>
              </a:rPr>
              <a:t>existentes</a:t>
            </a:r>
            <a:r>
              <a:rPr sz="1400" dirty="0">
                <a:solidFill>
                  <a:srgbClr val="2B2B2E"/>
                </a:solidFill>
                <a:latin typeface="Segoe UI"/>
              </a:rPr>
              <a:t> (DHA) y </a:t>
            </a:r>
            <a:r>
              <a:rPr sz="1400" dirty="0" err="1">
                <a:solidFill>
                  <a:srgbClr val="2B2B2E"/>
                </a:solidFill>
                <a:latin typeface="Segoe UI"/>
              </a:rPr>
              <a:t>su</a:t>
            </a:r>
            <a:r>
              <a:rPr sz="1400" dirty="0">
                <a:solidFill>
                  <a:srgbClr val="2B2B2E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2B2B2E"/>
                </a:solidFill>
                <a:latin typeface="Segoe UI"/>
              </a:rPr>
              <a:t>distribución</a:t>
            </a:r>
            <a:r>
              <a:rPr sz="1400" dirty="0">
                <a:solidFill>
                  <a:srgbClr val="2B2B2E"/>
                </a:solidFill>
                <a:latin typeface="Segoe UI"/>
              </a:rPr>
              <a:t> por slot.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dirty="0">
                <a:solidFill>
                  <a:srgbClr val="2B2B2E"/>
                </a:solidFill>
                <a:latin typeface="Segoe UI"/>
              </a:rPr>
              <a:t>•  </a:t>
            </a:r>
            <a:r>
              <a:rPr sz="1400" dirty="0" err="1">
                <a:solidFill>
                  <a:srgbClr val="2B2B2E"/>
                </a:solidFill>
                <a:latin typeface="Segoe UI"/>
              </a:rPr>
              <a:t>Recopilación</a:t>
            </a:r>
            <a:r>
              <a:rPr sz="1400" dirty="0">
                <a:solidFill>
                  <a:srgbClr val="2B2B2E"/>
                </a:solidFill>
                <a:latin typeface="Segoe UI"/>
              </a:rPr>
              <a:t> de los </a:t>
            </a:r>
            <a:r>
              <a:rPr sz="1400" dirty="0" err="1">
                <a:solidFill>
                  <a:srgbClr val="2B2B2E"/>
                </a:solidFill>
                <a:latin typeface="Segoe UI"/>
              </a:rPr>
              <a:t>despliegues</a:t>
            </a:r>
            <a:r>
              <a:rPr sz="1400" dirty="0">
                <a:solidFill>
                  <a:srgbClr val="2B2B2E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2B2B2E"/>
                </a:solidFill>
                <a:latin typeface="Segoe UI"/>
              </a:rPr>
              <a:t>existentes</a:t>
            </a:r>
            <a:r>
              <a:rPr sz="1400" dirty="0">
                <a:solidFill>
                  <a:srgbClr val="2B2B2E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2B2B2E"/>
                </a:solidFill>
                <a:latin typeface="Segoe UI"/>
              </a:rPr>
              <a:t>en</a:t>
            </a:r>
            <a:r>
              <a:rPr sz="1400" dirty="0">
                <a:solidFill>
                  <a:srgbClr val="2B2B2E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2B2B2E"/>
                </a:solidFill>
                <a:latin typeface="Segoe UI"/>
              </a:rPr>
              <a:t>el</a:t>
            </a:r>
            <a:r>
              <a:rPr sz="1400" dirty="0">
                <a:solidFill>
                  <a:srgbClr val="2B2B2E"/>
                </a:solidFill>
                <a:latin typeface="Segoe UI"/>
              </a:rPr>
              <a:t> SCADA </a:t>
            </a:r>
            <a:r>
              <a:rPr sz="1400" dirty="0" err="1">
                <a:solidFill>
                  <a:srgbClr val="2B2B2E"/>
                </a:solidFill>
                <a:latin typeface="Segoe UI"/>
              </a:rPr>
              <a:t>legado</a:t>
            </a:r>
            <a:r>
              <a:rPr sz="1400" dirty="0">
                <a:solidFill>
                  <a:srgbClr val="2B2B2E"/>
                </a:solidFill>
                <a:latin typeface="Segoe UI"/>
              </a:rPr>
              <a:t> (Lookout) y </a:t>
            </a:r>
            <a:r>
              <a:rPr sz="1400" dirty="0" err="1">
                <a:solidFill>
                  <a:srgbClr val="2B2B2E"/>
                </a:solidFill>
                <a:latin typeface="Segoe UI"/>
              </a:rPr>
              <a:t>su</a:t>
            </a:r>
            <a:r>
              <a:rPr sz="1400" dirty="0">
                <a:solidFill>
                  <a:srgbClr val="2B2B2E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2B2B2E"/>
                </a:solidFill>
                <a:latin typeface="Segoe UI"/>
              </a:rPr>
              <a:t>documentación</a:t>
            </a:r>
            <a:r>
              <a:rPr sz="1400" dirty="0">
                <a:solidFill>
                  <a:srgbClr val="2B2B2E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2B2B2E"/>
                </a:solidFill>
                <a:latin typeface="Segoe UI"/>
              </a:rPr>
              <a:t>asociada</a:t>
            </a:r>
            <a:endParaRPr sz="1400" dirty="0">
              <a:solidFill>
                <a:srgbClr val="2B2B2E"/>
              </a:solidFill>
              <a:latin typeface="Segoe U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76560" y="4525883"/>
            <a:ext cx="5120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 err="1">
                <a:solidFill>
                  <a:srgbClr val="2B2B2E"/>
                </a:solidFill>
                <a:latin typeface="Segoe UI"/>
              </a:rPr>
              <a:t>Fase</a:t>
            </a:r>
            <a:r>
              <a:rPr b="1" dirty="0">
                <a:solidFill>
                  <a:srgbClr val="2B2B2E"/>
                </a:solidFill>
                <a:latin typeface="Segoe UI"/>
              </a:rPr>
              <a:t> 2 - Desarrollo</a:t>
            </a:r>
            <a:r>
              <a:rPr sz="1200" b="0" i="1" dirty="0">
                <a:solidFill>
                  <a:srgbClr val="87888C"/>
                </a:solidFill>
                <a:latin typeface="Segoe UI"/>
              </a:rPr>
              <a:t>   </a:t>
            </a:r>
            <a:r>
              <a:rPr lang="en-US" sz="1200" b="0" i="1" dirty="0" err="1">
                <a:solidFill>
                  <a:srgbClr val="87888C"/>
                </a:solidFill>
                <a:latin typeface="Segoe UI"/>
              </a:rPr>
              <a:t>Diciembre</a:t>
            </a:r>
            <a:r>
              <a:rPr sz="1200" b="0" i="1" dirty="0">
                <a:solidFill>
                  <a:srgbClr val="87888C"/>
                </a:solidFill>
                <a:latin typeface="Segoe UI"/>
              </a:rPr>
              <a:t> 202</a:t>
            </a:r>
            <a:r>
              <a:rPr lang="en-US" sz="1200" i="1" dirty="0">
                <a:solidFill>
                  <a:srgbClr val="87888C"/>
                </a:solidFill>
                <a:latin typeface="Segoe UI"/>
              </a:rPr>
              <a:t>5</a:t>
            </a:r>
            <a:endParaRPr sz="1200" b="0" i="1" dirty="0">
              <a:solidFill>
                <a:srgbClr val="87888C"/>
              </a:solidFill>
              <a:latin typeface="Segoe U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5796" y="4983083"/>
            <a:ext cx="5120640" cy="1535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dirty="0">
                <a:solidFill>
                  <a:srgbClr val="2B2B2E"/>
                </a:solidFill>
                <a:latin typeface="Segoe UI"/>
              </a:rPr>
              <a:t>•  </a:t>
            </a:r>
            <a:r>
              <a:rPr sz="1400" dirty="0" err="1">
                <a:solidFill>
                  <a:srgbClr val="2B2B2E"/>
                </a:solidFill>
                <a:latin typeface="Segoe UI"/>
              </a:rPr>
              <a:t>Mantenimiento</a:t>
            </a:r>
            <a:r>
              <a:rPr sz="1400" dirty="0">
                <a:solidFill>
                  <a:srgbClr val="2B2B2E"/>
                </a:solidFill>
                <a:latin typeface="Segoe UI"/>
              </a:rPr>
              <a:t> de los </a:t>
            </a:r>
            <a:r>
              <a:rPr sz="1400" dirty="0" err="1">
                <a:solidFill>
                  <a:srgbClr val="2B2B2E"/>
                </a:solidFill>
                <a:latin typeface="Segoe UI"/>
              </a:rPr>
              <a:t>módulos</a:t>
            </a:r>
            <a:r>
              <a:rPr sz="1400" dirty="0">
                <a:solidFill>
                  <a:srgbClr val="2B2B2E"/>
                </a:solidFill>
                <a:latin typeface="Segoe UI"/>
              </a:rPr>
              <a:t> de </a:t>
            </a:r>
            <a:r>
              <a:rPr sz="1400" dirty="0" err="1">
                <a:solidFill>
                  <a:srgbClr val="2B2B2E"/>
                </a:solidFill>
                <a:latin typeface="Segoe UI"/>
              </a:rPr>
              <a:t>comunicación</a:t>
            </a:r>
            <a:r>
              <a:rPr sz="1400" dirty="0">
                <a:solidFill>
                  <a:srgbClr val="2B2B2E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2B2B2E"/>
                </a:solidFill>
                <a:latin typeface="Segoe UI"/>
              </a:rPr>
              <a:t>existentes</a:t>
            </a:r>
            <a:r>
              <a:rPr sz="1400" dirty="0">
                <a:solidFill>
                  <a:srgbClr val="2B2B2E"/>
                </a:solidFill>
                <a:latin typeface="Segoe UI"/>
              </a:rPr>
              <a:t>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dirty="0">
                <a:solidFill>
                  <a:srgbClr val="2B2B2E"/>
                </a:solidFill>
                <a:latin typeface="Segoe UI"/>
              </a:rPr>
              <a:t>•  Desarrollo del software PLC para </a:t>
            </a:r>
            <a:r>
              <a:rPr sz="1400" dirty="0" err="1">
                <a:solidFill>
                  <a:srgbClr val="2B2B2E"/>
                </a:solidFill>
                <a:latin typeface="Segoe UI"/>
              </a:rPr>
              <a:t>habilitar</a:t>
            </a:r>
            <a:r>
              <a:rPr sz="1400" dirty="0">
                <a:solidFill>
                  <a:srgbClr val="2B2B2E"/>
                </a:solidFill>
                <a:latin typeface="Segoe UI"/>
              </a:rPr>
              <a:t> la </a:t>
            </a:r>
            <a:r>
              <a:rPr sz="1400" dirty="0" err="1">
                <a:solidFill>
                  <a:srgbClr val="2B2B2E"/>
                </a:solidFill>
                <a:latin typeface="Segoe UI"/>
              </a:rPr>
              <a:t>comunicación</a:t>
            </a:r>
            <a:r>
              <a:rPr sz="1400" dirty="0">
                <a:solidFill>
                  <a:srgbClr val="2B2B2E"/>
                </a:solidFill>
                <a:latin typeface="Segoe UI"/>
              </a:rPr>
              <a:t> con la red DH+ </a:t>
            </a:r>
            <a:r>
              <a:rPr sz="1400" dirty="0" err="1">
                <a:solidFill>
                  <a:srgbClr val="2B2B2E"/>
                </a:solidFill>
                <a:latin typeface="Segoe UI"/>
              </a:rPr>
              <a:t>existente</a:t>
            </a:r>
            <a:r>
              <a:rPr sz="1400" dirty="0">
                <a:solidFill>
                  <a:srgbClr val="2B2B2E"/>
                </a:solidFill>
                <a:latin typeface="Segoe UI"/>
              </a:rPr>
              <a:t>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dirty="0">
                <a:solidFill>
                  <a:srgbClr val="2B2B2E"/>
                </a:solidFill>
                <a:latin typeface="Segoe UI"/>
              </a:rPr>
              <a:t>•  Desarrollo de los </a:t>
            </a:r>
            <a:r>
              <a:rPr sz="1400" dirty="0" err="1">
                <a:solidFill>
                  <a:srgbClr val="2B2B2E"/>
                </a:solidFill>
                <a:latin typeface="Segoe UI"/>
              </a:rPr>
              <a:t>primeros</a:t>
            </a:r>
            <a:r>
              <a:rPr sz="1400" dirty="0">
                <a:solidFill>
                  <a:srgbClr val="2B2B2E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2B2B2E"/>
                </a:solidFill>
                <a:latin typeface="Segoe UI"/>
              </a:rPr>
              <a:t>despliegues</a:t>
            </a:r>
            <a:r>
              <a:rPr sz="1400" dirty="0">
                <a:solidFill>
                  <a:srgbClr val="2B2B2E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2B2B2E"/>
                </a:solidFill>
                <a:latin typeface="Segoe UI"/>
              </a:rPr>
              <a:t>previstos</a:t>
            </a:r>
            <a:r>
              <a:rPr sz="1400" dirty="0">
                <a:solidFill>
                  <a:srgbClr val="2B2B2E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2B2B2E"/>
                </a:solidFill>
                <a:latin typeface="Segoe UI"/>
              </a:rPr>
              <a:t>en</a:t>
            </a:r>
            <a:r>
              <a:rPr sz="1400" dirty="0">
                <a:solidFill>
                  <a:srgbClr val="2B2B2E"/>
                </a:solidFill>
                <a:latin typeface="Segoe UI"/>
              </a:rPr>
              <a:t> la </a:t>
            </a:r>
            <a:r>
              <a:rPr sz="1400" dirty="0" err="1">
                <a:solidFill>
                  <a:srgbClr val="2B2B2E"/>
                </a:solidFill>
                <a:latin typeface="Segoe UI"/>
              </a:rPr>
              <a:t>plataforma</a:t>
            </a:r>
            <a:r>
              <a:rPr sz="1400" dirty="0">
                <a:solidFill>
                  <a:srgbClr val="2B2B2E"/>
                </a:solidFill>
                <a:latin typeface="Segoe UI"/>
              </a:rPr>
              <a:t> FactoryTalk </a:t>
            </a:r>
            <a:r>
              <a:rPr sz="1400" dirty="0" err="1">
                <a:solidFill>
                  <a:srgbClr val="2B2B2E"/>
                </a:solidFill>
                <a:latin typeface="Segoe UI"/>
              </a:rPr>
              <a:t>Optix</a:t>
            </a:r>
            <a:r>
              <a:rPr sz="1400" dirty="0">
                <a:solidFill>
                  <a:srgbClr val="2B2B2E"/>
                </a:solidFill>
                <a:latin typeface="Segoe UI"/>
              </a:rPr>
              <a:t>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53328" y="1463040"/>
            <a:ext cx="19050" cy="4846320"/>
          </a:xfrm>
          <a:prstGeom prst="rect">
            <a:avLst/>
          </a:prstGeom>
          <a:solidFill>
            <a:srgbClr val="E0E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901CF5-CDE8-4606-8B14-F883B74D4CAC}"/>
              </a:ext>
            </a:extLst>
          </p:cNvPr>
          <p:cNvSpPr txBox="1"/>
          <p:nvPr/>
        </p:nvSpPr>
        <p:spPr>
          <a:xfrm>
            <a:off x="6440048" y="1338869"/>
            <a:ext cx="5120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 err="1">
                <a:solidFill>
                  <a:srgbClr val="2B2B2E"/>
                </a:solidFill>
                <a:latin typeface="Segoe UI"/>
              </a:rPr>
              <a:t>Fase</a:t>
            </a:r>
            <a:r>
              <a:rPr b="1" dirty="0">
                <a:solidFill>
                  <a:srgbClr val="2B2B2E"/>
                </a:solidFill>
                <a:latin typeface="Segoe UI"/>
              </a:rPr>
              <a:t> 3 - </a:t>
            </a:r>
            <a:r>
              <a:rPr b="1" dirty="0" err="1">
                <a:solidFill>
                  <a:srgbClr val="2B2B2E"/>
                </a:solidFill>
                <a:latin typeface="Segoe UI"/>
              </a:rPr>
              <a:t>Pruebas</a:t>
            </a:r>
            <a:r>
              <a:rPr b="1" dirty="0">
                <a:solidFill>
                  <a:srgbClr val="2B2B2E"/>
                </a:solidFill>
                <a:latin typeface="Segoe UI"/>
              </a:rPr>
              <a:t> FAT / SAT</a:t>
            </a:r>
            <a:r>
              <a:rPr sz="1200" b="0" i="1" dirty="0">
                <a:solidFill>
                  <a:srgbClr val="87888C"/>
                </a:solidFill>
                <a:latin typeface="Segoe UI"/>
              </a:rPr>
              <a:t>   </a:t>
            </a:r>
            <a:r>
              <a:rPr lang="en-US" sz="1200" b="0" i="1" dirty="0">
                <a:solidFill>
                  <a:srgbClr val="87888C"/>
                </a:solidFill>
                <a:latin typeface="Segoe UI"/>
              </a:rPr>
              <a:t>Mayo</a:t>
            </a:r>
            <a:r>
              <a:rPr sz="1200" b="0" i="1" dirty="0">
                <a:solidFill>
                  <a:srgbClr val="87888C"/>
                </a:solidFill>
                <a:latin typeface="Segoe UI"/>
              </a:rPr>
              <a:t> 2026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9186BC-6A06-4CCE-BBFD-01562BCBEFBB}"/>
              </a:ext>
            </a:extLst>
          </p:cNvPr>
          <p:cNvSpPr txBox="1"/>
          <p:nvPr/>
        </p:nvSpPr>
        <p:spPr>
          <a:xfrm>
            <a:off x="6440048" y="1796069"/>
            <a:ext cx="5120640" cy="2628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12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2B2B2E"/>
                </a:solidFill>
                <a:latin typeface="Segoe UI"/>
              </a:rPr>
              <a:t>Recepción</a:t>
            </a:r>
            <a:r>
              <a:rPr lang="en-US" sz="1400" dirty="0">
                <a:solidFill>
                  <a:srgbClr val="2B2B2E"/>
                </a:solidFill>
                <a:latin typeface="Segoe UI"/>
              </a:rPr>
              <a:t> de </a:t>
            </a:r>
            <a:r>
              <a:rPr lang="en-US" sz="1400" dirty="0" err="1">
                <a:solidFill>
                  <a:srgbClr val="2B2B2E"/>
                </a:solidFill>
                <a:latin typeface="Segoe UI"/>
              </a:rPr>
              <a:t>equipos</a:t>
            </a:r>
            <a:r>
              <a:rPr lang="en-US" sz="1400" dirty="0">
                <a:solidFill>
                  <a:srgbClr val="2B2B2E"/>
                </a:solidFill>
                <a:latin typeface="Segoe UI"/>
              </a:rPr>
              <a:t>.</a:t>
            </a:r>
            <a:r>
              <a:rPr sz="1400" dirty="0">
                <a:solidFill>
                  <a:srgbClr val="2B2B2E"/>
                </a:solidFill>
                <a:latin typeface="Segoe UI"/>
              </a:rPr>
              <a:t>  </a:t>
            </a:r>
            <a:endParaRPr lang="en-US" sz="1400" dirty="0">
              <a:solidFill>
                <a:srgbClr val="2B2B2E"/>
              </a:solidFill>
              <a:latin typeface="Segoe UI"/>
            </a:endParaRPr>
          </a:p>
          <a:p>
            <a:pPr marL="285750" indent="-285750">
              <a:lnSpc>
                <a:spcPct val="112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400" dirty="0" err="1">
                <a:solidFill>
                  <a:srgbClr val="2B2B2E"/>
                </a:solidFill>
                <a:latin typeface="Segoe UI"/>
              </a:rPr>
              <a:t>Pruebas</a:t>
            </a:r>
            <a:r>
              <a:rPr sz="1400" dirty="0">
                <a:solidFill>
                  <a:srgbClr val="2B2B2E"/>
                </a:solidFill>
                <a:latin typeface="Segoe UI"/>
              </a:rPr>
              <a:t> FAT (Factory Acceptance Test): </a:t>
            </a:r>
            <a:r>
              <a:rPr sz="1400" dirty="0" err="1">
                <a:solidFill>
                  <a:srgbClr val="2B2B2E"/>
                </a:solidFill>
                <a:latin typeface="Segoe UI"/>
              </a:rPr>
              <a:t>última</a:t>
            </a:r>
            <a:r>
              <a:rPr sz="1400" dirty="0">
                <a:solidFill>
                  <a:srgbClr val="2B2B2E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2B2B2E"/>
                </a:solidFill>
                <a:latin typeface="Segoe UI"/>
              </a:rPr>
              <a:t>versión</a:t>
            </a:r>
            <a:r>
              <a:rPr sz="1400" dirty="0">
                <a:solidFill>
                  <a:srgbClr val="2B2B2E"/>
                </a:solidFill>
                <a:latin typeface="Segoe UI"/>
              </a:rPr>
              <a:t> de firmware y </a:t>
            </a:r>
            <a:r>
              <a:rPr sz="1400" dirty="0" err="1">
                <a:solidFill>
                  <a:srgbClr val="2B2B2E"/>
                </a:solidFill>
                <a:latin typeface="Segoe UI"/>
              </a:rPr>
              <a:t>programa</a:t>
            </a:r>
            <a:r>
              <a:rPr sz="1400" dirty="0">
                <a:solidFill>
                  <a:srgbClr val="2B2B2E"/>
                </a:solidFill>
                <a:latin typeface="Segoe UI"/>
              </a:rPr>
              <a:t> de PLC para </a:t>
            </a:r>
            <a:r>
              <a:rPr sz="1400" dirty="0" err="1">
                <a:solidFill>
                  <a:srgbClr val="2B2B2E"/>
                </a:solidFill>
                <a:latin typeface="Segoe UI"/>
              </a:rPr>
              <a:t>interrogar</a:t>
            </a:r>
            <a:r>
              <a:rPr sz="1400" dirty="0">
                <a:solidFill>
                  <a:srgbClr val="2B2B2E"/>
                </a:solidFill>
                <a:latin typeface="Segoe UI"/>
              </a:rPr>
              <a:t> la red DH+ -- </a:t>
            </a:r>
            <a:r>
              <a:rPr sz="1400" dirty="0" err="1">
                <a:solidFill>
                  <a:srgbClr val="2B2B2E"/>
                </a:solidFill>
                <a:latin typeface="Segoe UI"/>
              </a:rPr>
              <a:t>resultados</a:t>
            </a:r>
            <a:r>
              <a:rPr sz="1400" dirty="0">
                <a:solidFill>
                  <a:srgbClr val="2B2B2E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2B2B2E"/>
                </a:solidFill>
                <a:latin typeface="Segoe UI"/>
              </a:rPr>
              <a:t>positivos</a:t>
            </a:r>
            <a:r>
              <a:rPr sz="1400" dirty="0">
                <a:solidFill>
                  <a:srgbClr val="2B2B2E"/>
                </a:solidFill>
                <a:latin typeface="Segoe UI"/>
              </a:rPr>
              <a:t>.</a:t>
            </a:r>
            <a:endParaRPr lang="en-US" sz="1400" dirty="0">
              <a:solidFill>
                <a:srgbClr val="2B2B2E"/>
              </a:solidFill>
              <a:latin typeface="Segoe UI"/>
            </a:endParaRPr>
          </a:p>
          <a:p>
            <a:pPr marL="285750" indent="-285750">
              <a:lnSpc>
                <a:spcPct val="112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400" dirty="0" err="1">
                <a:solidFill>
                  <a:srgbClr val="2B2B2E"/>
                </a:solidFill>
                <a:latin typeface="Segoe UI"/>
              </a:rPr>
              <a:t>Pruebas</a:t>
            </a:r>
            <a:r>
              <a:rPr sz="1400" dirty="0">
                <a:solidFill>
                  <a:srgbClr val="2B2B2E"/>
                </a:solidFill>
                <a:latin typeface="Segoe UI"/>
              </a:rPr>
              <a:t> SAT (Site Acceptance Test)</a:t>
            </a:r>
            <a:r>
              <a:rPr lang="en-US" sz="1400" dirty="0">
                <a:solidFill>
                  <a:srgbClr val="2B2B2E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2B2B2E"/>
                </a:solidFill>
                <a:latin typeface="Segoe UI"/>
              </a:rPr>
              <a:t>validación</a:t>
            </a:r>
            <a:r>
              <a:rPr sz="1400" dirty="0">
                <a:solidFill>
                  <a:srgbClr val="2B2B2E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2B2B2E"/>
                </a:solidFill>
                <a:latin typeface="Segoe UI"/>
              </a:rPr>
              <a:t>en</a:t>
            </a:r>
            <a:r>
              <a:rPr sz="1400" dirty="0">
                <a:solidFill>
                  <a:srgbClr val="2B2B2E"/>
                </a:solidFill>
                <a:latin typeface="Segoe UI"/>
              </a:rPr>
              <a:t> planta con </a:t>
            </a:r>
            <a:r>
              <a:rPr sz="1400" dirty="0" err="1">
                <a:solidFill>
                  <a:srgbClr val="2B2B2E"/>
                </a:solidFill>
                <a:latin typeface="Segoe UI"/>
              </a:rPr>
              <a:t>condiciones</a:t>
            </a:r>
            <a:r>
              <a:rPr sz="1400" dirty="0">
                <a:solidFill>
                  <a:srgbClr val="2B2B2E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2B2B2E"/>
                </a:solidFill>
                <a:latin typeface="Segoe UI"/>
              </a:rPr>
              <a:t>reales</a:t>
            </a:r>
            <a:r>
              <a:rPr sz="1400" dirty="0">
                <a:solidFill>
                  <a:srgbClr val="2B2B2E"/>
                </a:solidFill>
                <a:latin typeface="Segoe UI"/>
              </a:rPr>
              <a:t> de la red DH+ -- </a:t>
            </a:r>
            <a:r>
              <a:rPr sz="1400" dirty="0" err="1">
                <a:solidFill>
                  <a:srgbClr val="2B2B2E"/>
                </a:solidFill>
                <a:latin typeface="Segoe UI"/>
              </a:rPr>
              <a:t>resultados</a:t>
            </a:r>
            <a:r>
              <a:rPr sz="1400" dirty="0">
                <a:solidFill>
                  <a:srgbClr val="2B2B2E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2B2B2E"/>
                </a:solidFill>
                <a:latin typeface="Segoe UI"/>
              </a:rPr>
              <a:t>positivos</a:t>
            </a:r>
            <a:r>
              <a:rPr sz="1400" dirty="0">
                <a:solidFill>
                  <a:srgbClr val="2B2B2E"/>
                </a:solidFill>
                <a:latin typeface="Segoe UI"/>
              </a:rPr>
              <a:t>.</a:t>
            </a:r>
          </a:p>
          <a:p>
            <a:pPr marL="285750" indent="-285750">
              <a:lnSpc>
                <a:spcPct val="112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400" dirty="0" err="1">
                <a:solidFill>
                  <a:srgbClr val="2B2B2E"/>
                </a:solidFill>
                <a:latin typeface="Segoe UI"/>
              </a:rPr>
              <a:t>Presentación</a:t>
            </a:r>
            <a:r>
              <a:rPr sz="1400" dirty="0">
                <a:solidFill>
                  <a:srgbClr val="2B2B2E"/>
                </a:solidFill>
                <a:latin typeface="Segoe UI"/>
              </a:rPr>
              <a:t> de las </a:t>
            </a:r>
            <a:r>
              <a:rPr sz="1400" dirty="0" err="1">
                <a:solidFill>
                  <a:srgbClr val="2B2B2E"/>
                </a:solidFill>
                <a:latin typeface="Segoe UI"/>
              </a:rPr>
              <a:t>pantallas</a:t>
            </a:r>
            <a:r>
              <a:rPr sz="1400" dirty="0">
                <a:solidFill>
                  <a:srgbClr val="2B2B2E"/>
                </a:solidFill>
                <a:latin typeface="Segoe UI"/>
              </a:rPr>
              <a:t> FT </a:t>
            </a:r>
            <a:r>
              <a:rPr sz="1400" dirty="0" err="1">
                <a:solidFill>
                  <a:srgbClr val="2B2B2E"/>
                </a:solidFill>
                <a:latin typeface="Segoe UI"/>
              </a:rPr>
              <a:t>Optix</a:t>
            </a:r>
            <a:r>
              <a:rPr sz="1400" dirty="0">
                <a:solidFill>
                  <a:srgbClr val="2B2B2E"/>
                </a:solidFill>
                <a:latin typeface="Segoe UI"/>
              </a:rPr>
              <a:t> para </a:t>
            </a:r>
            <a:r>
              <a:rPr sz="1400" dirty="0" err="1">
                <a:solidFill>
                  <a:srgbClr val="2B2B2E"/>
                </a:solidFill>
                <a:latin typeface="Segoe UI"/>
              </a:rPr>
              <a:t>visualización</a:t>
            </a:r>
            <a:r>
              <a:rPr sz="1400" dirty="0">
                <a:solidFill>
                  <a:srgbClr val="2B2B2E"/>
                </a:solidFill>
                <a:latin typeface="Segoe UI"/>
              </a:rPr>
              <a:t> de </a:t>
            </a:r>
            <a:r>
              <a:rPr sz="1400" dirty="0" err="1">
                <a:solidFill>
                  <a:srgbClr val="2B2B2E"/>
                </a:solidFill>
                <a:latin typeface="Segoe UI"/>
              </a:rPr>
              <a:t>contadores</a:t>
            </a:r>
            <a:r>
              <a:rPr sz="1400" dirty="0">
                <a:solidFill>
                  <a:srgbClr val="2B2B2E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6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D5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4377" y="314462"/>
            <a:ext cx="82296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800" b="1" i="0" dirty="0" err="1">
                <a:solidFill>
                  <a:srgbClr val="2B2B2E"/>
                </a:solidFill>
                <a:latin typeface="Segoe UI"/>
              </a:rPr>
              <a:t>A</a:t>
            </a:r>
            <a:r>
              <a:rPr sz="2800" b="1" i="0" dirty="0" err="1">
                <a:solidFill>
                  <a:srgbClr val="2B2B2E"/>
                </a:solidFill>
                <a:latin typeface="Segoe UI"/>
              </a:rPr>
              <a:t>utomatización</a:t>
            </a:r>
            <a:r>
              <a:rPr sz="2800" b="1" i="0" dirty="0">
                <a:solidFill>
                  <a:srgbClr val="2B2B2E"/>
                </a:solidFill>
                <a:latin typeface="Segoe UI"/>
              </a:rPr>
              <a:t> de </a:t>
            </a:r>
            <a:r>
              <a:rPr lang="en-US" sz="2800" b="1" i="0" dirty="0" err="1">
                <a:solidFill>
                  <a:srgbClr val="2B2B2E"/>
                </a:solidFill>
                <a:latin typeface="Segoe UI"/>
              </a:rPr>
              <a:t>r</a:t>
            </a:r>
            <a:r>
              <a:rPr sz="2800" b="1" i="0" dirty="0" err="1">
                <a:solidFill>
                  <a:srgbClr val="2B2B2E"/>
                </a:solidFill>
                <a:latin typeface="Segoe UI"/>
              </a:rPr>
              <a:t>eport</a:t>
            </a:r>
            <a:r>
              <a:rPr lang="en-US" sz="2800" b="1" i="0" dirty="0" err="1">
                <a:solidFill>
                  <a:srgbClr val="2B2B2E"/>
                </a:solidFill>
                <a:latin typeface="Segoe UI"/>
              </a:rPr>
              <a:t>e</a:t>
            </a:r>
            <a:r>
              <a:rPr sz="2800" b="1" i="0" dirty="0" err="1">
                <a:solidFill>
                  <a:srgbClr val="2B2B2E"/>
                </a:solidFill>
                <a:latin typeface="Segoe UI"/>
              </a:rPr>
              <a:t>s</a:t>
            </a:r>
            <a:r>
              <a:rPr lang="en-US" sz="2800" b="1" i="0" dirty="0">
                <a:solidFill>
                  <a:srgbClr val="2B2B2E"/>
                </a:solidFill>
                <a:latin typeface="Segoe UI"/>
              </a:rPr>
              <a:t>: FT </a:t>
            </a:r>
            <a:r>
              <a:rPr lang="en-US" sz="2800" b="1" i="0" dirty="0" err="1">
                <a:solidFill>
                  <a:srgbClr val="2B2B2E"/>
                </a:solidFill>
                <a:latin typeface="Segoe UI"/>
              </a:rPr>
              <a:t>DataMosaix</a:t>
            </a:r>
            <a:endParaRPr sz="2800" b="1" i="0" dirty="0">
              <a:solidFill>
                <a:srgbClr val="2B2B2E"/>
              </a:solidFill>
              <a:latin typeface="Segoe U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6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11094415" y="6571022"/>
            <a:ext cx="640080" cy="253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87888C"/>
                </a:solidFill>
                <a:latin typeface="Segoe UI"/>
              </a:rPr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4014B0-675B-42A5-AE95-153365EC566D}"/>
              </a:ext>
            </a:extLst>
          </p:cNvPr>
          <p:cNvSpPr txBox="1"/>
          <p:nvPr/>
        </p:nvSpPr>
        <p:spPr>
          <a:xfrm>
            <a:off x="457200" y="6497925"/>
            <a:ext cx="548640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endParaRPr sz="2000"/>
          </a:p>
        </p:txBody>
      </p:sp>
      <p:sp>
        <p:nvSpPr>
          <p:cNvPr id="15" name="TextBox 14"/>
          <p:cNvSpPr txBox="1"/>
          <p:nvPr/>
        </p:nvSpPr>
        <p:spPr>
          <a:xfrm>
            <a:off x="345901" y="1454669"/>
            <a:ext cx="5532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 err="1">
                <a:solidFill>
                  <a:srgbClr val="2B2B2E"/>
                </a:solidFill>
                <a:latin typeface="Segoe UI"/>
              </a:rPr>
              <a:t>Fase</a:t>
            </a:r>
            <a:r>
              <a:rPr b="1" dirty="0">
                <a:solidFill>
                  <a:srgbClr val="2B2B2E"/>
                </a:solidFill>
                <a:latin typeface="Segoe UI"/>
              </a:rPr>
              <a:t> 4 - </a:t>
            </a:r>
            <a:r>
              <a:rPr b="1" dirty="0" err="1">
                <a:solidFill>
                  <a:srgbClr val="2B2B2E"/>
                </a:solidFill>
                <a:latin typeface="Segoe UI"/>
              </a:rPr>
              <a:t>Automatización</a:t>
            </a:r>
            <a:r>
              <a:rPr b="1" dirty="0">
                <a:solidFill>
                  <a:srgbClr val="2B2B2E"/>
                </a:solidFill>
                <a:latin typeface="Segoe UI"/>
              </a:rPr>
              <a:t> de </a:t>
            </a:r>
            <a:r>
              <a:rPr b="1" dirty="0" err="1">
                <a:solidFill>
                  <a:srgbClr val="2B2B2E"/>
                </a:solidFill>
                <a:latin typeface="Segoe UI"/>
              </a:rPr>
              <a:t>Reportes</a:t>
            </a:r>
            <a:r>
              <a:rPr sz="1200" b="0" i="1" dirty="0">
                <a:solidFill>
                  <a:srgbClr val="87888C"/>
                </a:solidFill>
                <a:latin typeface="Segoe UI"/>
              </a:rPr>
              <a:t>   </a:t>
            </a:r>
            <a:r>
              <a:rPr lang="en-US" sz="1200" b="0" i="1" dirty="0">
                <a:solidFill>
                  <a:srgbClr val="87888C"/>
                </a:solidFill>
                <a:latin typeface="Segoe UI"/>
              </a:rPr>
              <a:t>Agosto 2026</a:t>
            </a:r>
            <a:endParaRPr sz="1200" b="0" i="1" dirty="0">
              <a:solidFill>
                <a:srgbClr val="87888C"/>
              </a:solidFill>
              <a:latin typeface="Segoe U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45901" y="1911869"/>
            <a:ext cx="5120640" cy="4220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dirty="0">
                <a:solidFill>
                  <a:srgbClr val="2B2B2E"/>
                </a:solidFill>
                <a:latin typeface="Segoe UI"/>
              </a:rPr>
              <a:t>•  </a:t>
            </a:r>
            <a:r>
              <a:rPr sz="1400" dirty="0" err="1">
                <a:solidFill>
                  <a:srgbClr val="2B2B2E"/>
                </a:solidFill>
                <a:latin typeface="Segoe UI"/>
              </a:rPr>
              <a:t>Función</a:t>
            </a:r>
            <a:r>
              <a:rPr sz="1400" dirty="0">
                <a:solidFill>
                  <a:srgbClr val="2B2B2E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2B2B2E"/>
                </a:solidFill>
                <a:latin typeface="Segoe UI"/>
              </a:rPr>
              <a:t>automatizada</a:t>
            </a:r>
            <a:r>
              <a:rPr sz="1400" dirty="0">
                <a:solidFill>
                  <a:srgbClr val="2B2B2E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2B2B2E"/>
                </a:solidFill>
                <a:latin typeface="Segoe UI"/>
              </a:rPr>
              <a:t>en</a:t>
            </a:r>
            <a:r>
              <a:rPr sz="1400" dirty="0">
                <a:solidFill>
                  <a:srgbClr val="2B2B2E"/>
                </a:solidFill>
                <a:latin typeface="Segoe UI"/>
              </a:rPr>
              <a:t> FT Data </a:t>
            </a:r>
            <a:r>
              <a:rPr sz="1400" dirty="0" err="1">
                <a:solidFill>
                  <a:srgbClr val="2B2B2E"/>
                </a:solidFill>
                <a:latin typeface="Segoe UI"/>
              </a:rPr>
              <a:t>Mosaix</a:t>
            </a:r>
            <a:r>
              <a:rPr sz="1400" dirty="0">
                <a:solidFill>
                  <a:srgbClr val="2B2B2E"/>
                </a:solidFill>
                <a:latin typeface="Segoe UI"/>
              </a:rPr>
              <a:t>, </a:t>
            </a:r>
            <a:r>
              <a:rPr sz="1400" dirty="0" err="1">
                <a:solidFill>
                  <a:srgbClr val="2B2B2E"/>
                </a:solidFill>
                <a:latin typeface="Segoe UI"/>
              </a:rPr>
              <a:t>ejecutada</a:t>
            </a:r>
            <a:r>
              <a:rPr sz="1400" dirty="0">
                <a:solidFill>
                  <a:srgbClr val="2B2B2E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2B2B2E"/>
                </a:solidFill>
                <a:latin typeface="Segoe UI"/>
              </a:rPr>
              <a:t>cada</a:t>
            </a:r>
            <a:r>
              <a:rPr sz="1400" dirty="0">
                <a:solidFill>
                  <a:srgbClr val="2B2B2E"/>
                </a:solidFill>
                <a:latin typeface="Segoe UI"/>
              </a:rPr>
              <a:t> hora.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dirty="0">
                <a:solidFill>
                  <a:srgbClr val="2B2B2E"/>
                </a:solidFill>
                <a:latin typeface="Segoe UI"/>
              </a:rPr>
              <a:t>•  </a:t>
            </a:r>
            <a:r>
              <a:rPr sz="1400" dirty="0" err="1">
                <a:solidFill>
                  <a:srgbClr val="2B2B2E"/>
                </a:solidFill>
                <a:latin typeface="Segoe UI"/>
              </a:rPr>
              <a:t>Cálculo</a:t>
            </a:r>
            <a:r>
              <a:rPr sz="1400" dirty="0">
                <a:solidFill>
                  <a:srgbClr val="2B2B2E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2B2B2E"/>
                </a:solidFill>
                <a:latin typeface="Segoe UI"/>
              </a:rPr>
              <a:t>automático</a:t>
            </a:r>
            <a:r>
              <a:rPr sz="1400" dirty="0">
                <a:solidFill>
                  <a:srgbClr val="2B2B2E"/>
                </a:solidFill>
                <a:latin typeface="Segoe UI"/>
              </a:rPr>
              <a:t> de KPIs por hora: </a:t>
            </a:r>
            <a:r>
              <a:rPr sz="1400" dirty="0" err="1">
                <a:solidFill>
                  <a:srgbClr val="2B2B2E"/>
                </a:solidFill>
                <a:latin typeface="Segoe UI"/>
              </a:rPr>
              <a:t>producción</a:t>
            </a:r>
            <a:r>
              <a:rPr sz="1400" dirty="0">
                <a:solidFill>
                  <a:srgbClr val="2B2B2E"/>
                </a:solidFill>
                <a:latin typeface="Segoe UI"/>
              </a:rPr>
              <a:t>, </a:t>
            </a:r>
            <a:r>
              <a:rPr sz="1400" dirty="0" err="1">
                <a:solidFill>
                  <a:srgbClr val="2B2B2E"/>
                </a:solidFill>
                <a:latin typeface="Segoe UI"/>
              </a:rPr>
              <a:t>tiempo</a:t>
            </a:r>
            <a:r>
              <a:rPr sz="1400" dirty="0">
                <a:solidFill>
                  <a:srgbClr val="2B2B2E"/>
                </a:solidFill>
                <a:latin typeface="Segoe UI"/>
              </a:rPr>
              <a:t> de </a:t>
            </a:r>
            <a:r>
              <a:rPr sz="1400" dirty="0" err="1">
                <a:solidFill>
                  <a:srgbClr val="2B2B2E"/>
                </a:solidFill>
                <a:latin typeface="Segoe UI"/>
              </a:rPr>
              <a:t>parada</a:t>
            </a:r>
            <a:r>
              <a:rPr sz="1400" dirty="0">
                <a:solidFill>
                  <a:srgbClr val="2B2B2E"/>
                </a:solidFill>
                <a:latin typeface="Segoe UI"/>
              </a:rPr>
              <a:t> y % de </a:t>
            </a:r>
            <a:r>
              <a:rPr sz="1400" dirty="0" err="1">
                <a:solidFill>
                  <a:srgbClr val="2B2B2E"/>
                </a:solidFill>
                <a:latin typeface="Segoe UI"/>
              </a:rPr>
              <a:t>eficiencia</a:t>
            </a:r>
            <a:r>
              <a:rPr sz="1400" dirty="0">
                <a:solidFill>
                  <a:srgbClr val="2B2B2E"/>
                </a:solidFill>
                <a:latin typeface="Segoe UI"/>
              </a:rPr>
              <a:t>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dirty="0">
                <a:solidFill>
                  <a:srgbClr val="2B2B2E"/>
                </a:solidFill>
                <a:latin typeface="Segoe UI"/>
              </a:rPr>
              <a:t>•  </a:t>
            </a:r>
            <a:r>
              <a:rPr sz="1400" dirty="0" err="1">
                <a:solidFill>
                  <a:srgbClr val="2B2B2E"/>
                </a:solidFill>
                <a:latin typeface="Segoe UI"/>
              </a:rPr>
              <a:t>Registro</a:t>
            </a:r>
            <a:r>
              <a:rPr sz="1400" dirty="0">
                <a:solidFill>
                  <a:srgbClr val="2B2B2E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2B2B2E"/>
                </a:solidFill>
                <a:latin typeface="Segoe UI"/>
              </a:rPr>
              <a:t>histórico</a:t>
            </a:r>
            <a:r>
              <a:rPr sz="1400" dirty="0">
                <a:solidFill>
                  <a:srgbClr val="2B2B2E"/>
                </a:solidFill>
                <a:latin typeface="Segoe UI"/>
              </a:rPr>
              <a:t> auditable de </a:t>
            </a:r>
            <a:r>
              <a:rPr sz="1400" dirty="0" err="1">
                <a:solidFill>
                  <a:srgbClr val="2B2B2E"/>
                </a:solidFill>
                <a:latin typeface="Segoe UI"/>
              </a:rPr>
              <a:t>cada</a:t>
            </a:r>
            <a:r>
              <a:rPr sz="1400" dirty="0">
                <a:solidFill>
                  <a:srgbClr val="2B2B2E"/>
                </a:solidFill>
                <a:latin typeface="Segoe UI"/>
              </a:rPr>
              <a:t> hora de </a:t>
            </a:r>
            <a:r>
              <a:rPr sz="1400" dirty="0" err="1">
                <a:solidFill>
                  <a:srgbClr val="2B2B2E"/>
                </a:solidFill>
                <a:latin typeface="Segoe UI"/>
              </a:rPr>
              <a:t>operación</a:t>
            </a:r>
            <a:r>
              <a:rPr sz="1400" dirty="0">
                <a:solidFill>
                  <a:srgbClr val="2B2B2E"/>
                </a:solidFill>
                <a:latin typeface="Segoe UI"/>
              </a:rPr>
              <a:t>, por </a:t>
            </a:r>
            <a:r>
              <a:rPr sz="1400" dirty="0" err="1">
                <a:solidFill>
                  <a:srgbClr val="2B2B2E"/>
                </a:solidFill>
                <a:latin typeface="Segoe UI"/>
              </a:rPr>
              <a:t>máquina</a:t>
            </a:r>
            <a:r>
              <a:rPr sz="1400" dirty="0">
                <a:solidFill>
                  <a:srgbClr val="2B2B2E"/>
                </a:solidFill>
                <a:latin typeface="Segoe UI"/>
              </a:rPr>
              <a:t>.</a:t>
            </a:r>
            <a:endParaRPr lang="en-US" sz="1400" dirty="0">
              <a:solidFill>
                <a:srgbClr val="2B2B2E"/>
              </a:solidFill>
              <a:latin typeface="Segoe UI"/>
            </a:endParaRP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es-ES" sz="1400" dirty="0">
                <a:solidFill>
                  <a:srgbClr val="2B2B2E"/>
                </a:solidFill>
                <a:latin typeface="Segoe UI"/>
              </a:rPr>
              <a:t>•  Aplicación desplegada dentro de FT Data </a:t>
            </a:r>
            <a:r>
              <a:rPr lang="es-ES" sz="1400" dirty="0" err="1">
                <a:solidFill>
                  <a:srgbClr val="2B2B2E"/>
                </a:solidFill>
                <a:latin typeface="Segoe UI"/>
              </a:rPr>
              <a:t>Mosaix</a:t>
            </a:r>
            <a:endParaRPr lang="es-ES" sz="1400" dirty="0">
              <a:solidFill>
                <a:srgbClr val="2B2B2E"/>
              </a:solidFill>
              <a:latin typeface="Segoe UI"/>
            </a:endParaRP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es-ES" sz="1400" dirty="0">
                <a:solidFill>
                  <a:srgbClr val="2B2B2E"/>
                </a:solidFill>
                <a:latin typeface="Segoe UI"/>
              </a:rPr>
              <a:t>•  Visualización por tipo de máquina y turno: gráficas de producción/tiempo de parada por hora, e indicadores de totales y eficiencia promedio.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es-ES" sz="1400" dirty="0">
                <a:solidFill>
                  <a:srgbClr val="2B2B2E"/>
                </a:solidFill>
                <a:latin typeface="Segoe UI"/>
              </a:rPr>
              <a:t>•  Horario de turno (6AM-6PM / 6PM-6AM) para reflejar el esquema real de operación.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es-ES" sz="1400" dirty="0">
                <a:solidFill>
                  <a:srgbClr val="2B2B2E"/>
                </a:solidFill>
                <a:latin typeface="Segoe UI"/>
              </a:rPr>
              <a:t>•  Registro de observaciones/incidencias por parte de los operadores, con control de permisos de escritura.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62A44AD-AEA4-4286-8617-1D9B187D73D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695545" y="1564913"/>
            <a:ext cx="6150553" cy="35427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6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D5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8229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B2B2E"/>
                </a:solidFill>
                <a:latin typeface="Segoe UI"/>
              </a:rPr>
              <a:t>Próximos pasos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6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94415" y="6537960"/>
            <a:ext cx="640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7888C"/>
                </a:solidFill>
                <a:latin typeface="Segoe UI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417320"/>
            <a:ext cx="10515600" cy="1466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s-419" sz="1700" dirty="0">
                <a:solidFill>
                  <a:srgbClr val="2B2B2E"/>
                </a:solidFill>
                <a:latin typeface="Segoe UI"/>
              </a:rPr>
              <a:t>Validación de los reportes</a:t>
            </a:r>
          </a:p>
          <a:p>
            <a:pPr marL="285750" indent="-285750">
              <a:lnSpc>
                <a:spcPct val="120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s-419" sz="1700" dirty="0">
                <a:solidFill>
                  <a:srgbClr val="2B2B2E"/>
                </a:solidFill>
                <a:latin typeface="Segoe UI"/>
              </a:rPr>
              <a:t>Diagramas de ingeniería contextualizados</a:t>
            </a:r>
          </a:p>
          <a:p>
            <a:pPr marL="285750" indent="-285750">
              <a:lnSpc>
                <a:spcPct val="120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s-419" sz="1700" dirty="0">
                <a:solidFill>
                  <a:srgbClr val="2B2B2E"/>
                </a:solidFill>
                <a:latin typeface="Segoe UI"/>
              </a:rPr>
              <a:t>Análisis avanzado por turno, periodos, etc.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622</Words>
  <Application>Microsoft Office PowerPoint</Application>
  <PresentationFormat>Widescreen</PresentationFormat>
  <Paragraphs>58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Gustavo A. Sánchez</cp:lastModifiedBy>
  <cp:revision>20</cp:revision>
  <dcterms:created xsi:type="dcterms:W3CDTF">2013-01-27T09:14:16Z</dcterms:created>
  <dcterms:modified xsi:type="dcterms:W3CDTF">2026-08-23T19:09:32Z</dcterms:modified>
  <cp:category/>
</cp:coreProperties>
</file>